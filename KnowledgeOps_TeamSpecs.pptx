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77" r:id="rId2"/>
    <p:sldId id="27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9A8D5-077B-4FE1-858C-4D3D045BA963}" v="2" dt="2026-05-25T11:23:48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14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2286000" y="731520"/>
            <a:ext cx="4572000" cy="3474720"/>
          </a:xfrm>
          <a:prstGeom prst="ellipse">
            <a:avLst/>
          </a:prstGeom>
          <a:solidFill>
            <a:srgbClr val="F59E0B">
              <a:alpha val="5000"/>
            </a:srgbClr>
          </a:solidFill>
          <a:ln w="12700">
            <a:solidFill>
              <a:srgbClr val="F59E0B">
                <a:alpha val="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VISION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KnowledgeOps</a:t>
            </a:r>
            <a:endParaRPr kumimoji="0" lang="en-US" sz="5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Trust Layer for Enterprise Knowledge AI</a:t>
            </a:r>
            <a:endParaRPr kumimoji="0" lang="en-US" sz="2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7315200" cy="91440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176272"/>
            <a:ext cx="6949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"Before an AI answer reaches a BCG consultant, KnowledgeOps ensures it is factually verified, source-traced, graph-validated, expert-aligned, and compliant — or it is flagged."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88720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🔍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Verify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728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fact gets a confidence score before delivery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66160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🔗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6616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Trace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answer links back to its source document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0" y="32735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🛡️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94360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Flag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852160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Risk, gaps, and compliance issues surfaced proactively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KnowledgeOps — Spec &amp; Ship Championship  ·  Planning Meeting 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ARCHITECTURE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Trust Marketplace</a:t>
            </a:r>
            <a:endParaRPr kumimoji="0" lang="en-US" sz="3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737360" cy="685800"/>
          </a:xfrm>
          <a:prstGeom prst="rect">
            <a:avLst/>
          </a:prstGeom>
          <a:solidFill>
            <a:srgbClr val="1A2540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User Query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11680" y="1527048"/>
            <a:ext cx="457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28800" cy="868680"/>
          </a:xfrm>
          <a:prstGeom prst="rect">
            <a:avLst/>
          </a:prstGeom>
          <a:solidFill>
            <a:srgbClr val="0D2B28"/>
          </a:solidFill>
          <a:ln w="12700">
            <a:solidFill>
              <a:srgbClr val="14B8A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8288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688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 Router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Routes to relevant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module(s) per task type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97680" y="1289304"/>
            <a:ext cx="548640" cy="0"/>
          </a:xfrm>
          <a:prstGeom prst="line">
            <a:avLst/>
          </a:prstGeom>
          <a:noFill/>
          <a:ln w="1905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0" y="960120"/>
            <a:ext cx="219456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29200" y="960120"/>
            <a:ext cx="5486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66360" y="10058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Fact-Checker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1307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4B8A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 1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223760" y="1289304"/>
            <a:ext cx="365760" cy="0"/>
          </a:xfrm>
          <a:prstGeom prst="line">
            <a:avLst/>
          </a:prstGeom>
          <a:noFill/>
          <a:ln w="1905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97680" y="1883664"/>
            <a:ext cx="548640" cy="0"/>
          </a:xfrm>
          <a:prstGeom prst="line">
            <a:avLst/>
          </a:prstGeom>
          <a:noFill/>
          <a:ln w="1905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029200" y="1554480"/>
            <a:ext cx="219456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0" y="1554480"/>
            <a:ext cx="54864" cy="6583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66360" y="16002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Graph Navigator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166360" y="19019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223760" y="1883664"/>
            <a:ext cx="365760" cy="0"/>
          </a:xfrm>
          <a:prstGeom prst="line">
            <a:avLst/>
          </a:prstGeom>
          <a:noFill/>
          <a:ln w="1905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97680" y="2478024"/>
            <a:ext cx="548640" cy="0"/>
          </a:xfrm>
          <a:prstGeom prst="line">
            <a:avLst/>
          </a:prstGeom>
          <a:noFill/>
          <a:ln w="1905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029200" y="2148840"/>
            <a:ext cx="219456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29200" y="214884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6360" y="21945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Inspector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66360" y="2496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 3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223760" y="2478024"/>
            <a:ext cx="365760" cy="0"/>
          </a:xfrm>
          <a:prstGeom prst="line">
            <a:avLst/>
          </a:prstGeom>
          <a:noFill/>
          <a:ln w="1905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97680" y="3072384"/>
            <a:ext cx="548640" cy="0"/>
          </a:xfrm>
          <a:prstGeom prst="line">
            <a:avLst/>
          </a:prstGeom>
          <a:noFill/>
          <a:ln w="1905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029200" y="2743200"/>
            <a:ext cx="219456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029200" y="2743200"/>
            <a:ext cx="54864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66360" y="27889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Scout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66360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 4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223760" y="3072384"/>
            <a:ext cx="365760" cy="0"/>
          </a:xfrm>
          <a:prstGeom prst="line">
            <a:avLst/>
          </a:prstGeom>
          <a:noFill/>
          <a:ln w="1905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97680" y="3666744"/>
            <a:ext cx="548640" cy="0"/>
          </a:xfrm>
          <a:prstGeom prst="line">
            <a:avLst/>
          </a:prstGeom>
          <a:noFill/>
          <a:ln w="1905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029200" y="3337560"/>
            <a:ext cx="2194560" cy="658368"/>
          </a:xfrm>
          <a:prstGeom prst="rect">
            <a:avLst/>
          </a:prstGeom>
          <a:solidFill>
            <a:srgbClr val="1A2540"/>
          </a:solidFill>
          <a:ln w="12700">
            <a:solidFill>
              <a:srgbClr val="22C55E">
                <a:alpha val="7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029200" y="3337560"/>
            <a:ext cx="54864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166360" y="3383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Provenance Officer</a:t>
            </a:r>
            <a:endParaRPr kumimoji="0" lang="en-US" sz="11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166360" y="3685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2C55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Team 5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223760" y="3666744"/>
            <a:ext cx="365760" cy="0"/>
          </a:xfrm>
          <a:prstGeom prst="line">
            <a:avLst/>
          </a:prstGeom>
          <a:noFill/>
          <a:ln w="1905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589520" y="1737360"/>
            <a:ext cx="1371600" cy="2194560"/>
          </a:xfrm>
          <a:prstGeom prst="rect">
            <a:avLst/>
          </a:prstGeom>
          <a:solidFill>
            <a:srgbClr val="1A1A2E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589520" y="1737360"/>
            <a:ext cx="13716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589520" y="18745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Card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589520" y="237744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evidence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flags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applies_to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TrustSignal Contract  ·  Shared interface across all 5 modules: { score, evidence, flags, applies_to(task_type) }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KnowledgeOps — Spec &amp; Ship Championship  ·  Planning Meeting 2026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9144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0" b="1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>
                <a:solidFill>
                  <a:srgbClr val="F59E0B"/>
                </a:solidFill>
              </a:rPr>
              <a:t>KNOWLEDGEOPS  ·  CHAMPIONSHIP  ·  YOUR BUILD BRIEF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You've Been Training For.</a:t>
            </a:r>
            <a:endParaRPr lang="en-US" sz="320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weeks of training. Two tracks. One shared goal. Now it's time to build something real — a product that didn't exist before this cohort.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697480" cy="1920240"/>
          </a:xfrm>
          <a:prstGeom prst="rect">
            <a:avLst/>
          </a:prstGeom>
          <a:solidFill>
            <a:srgbClr val="0D2B28"/>
          </a:solidFill>
          <a:ln w="12700">
            <a:solidFill>
              <a:srgbClr val="14B8A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26974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2697480" cy="1920240"/>
          </a:xfrm>
          <a:prstGeom prst="rect">
            <a:avLst/>
          </a:prstGeom>
          <a:solidFill>
            <a:srgbClr val="14B8A6">
              <a:alpha val="6000"/>
            </a:srgbClr>
          </a:solidFill>
          <a:ln w="12700">
            <a:solidFill>
              <a:srgbClr val="14B8A6">
                <a:alpha val="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</a:rPr>
              <a:t>01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005840" y="1975104"/>
            <a:ext cx="137160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19751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Weeks 1–3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Build Your Module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594360" y="26791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</a:rPr>
              <a:t>Your team builds one trust module independently. This deck is your guide.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3172968" y="2852928"/>
            <a:ext cx="14630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37560" y="1901952"/>
            <a:ext cx="2697480" cy="192024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37560" y="1901952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74720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</a:rPr>
              <a:t>02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3886200" y="1975104"/>
            <a:ext cx="13716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86200" y="19751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Weeks 4–6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3474720" y="2331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Integrate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3474720" y="26791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</a:rPr>
              <a:t>All 5 modules connect into one product. Integration brief shared after week 3.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053328" y="2852928"/>
            <a:ext cx="14630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901952"/>
            <a:ext cx="2697480" cy="1920240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1901952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197510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97316"/>
                </a:solidFill>
              </a:rPr>
              <a:t>03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6766560" y="1975104"/>
            <a:ext cx="13716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19751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Demo Day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6355080" y="2331720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Launch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6355080" y="26791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</a:rPr>
              <a:t>Live demo. Judging. KnowledgeOps goes live.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</a:rPr>
              <a:t>[ DATE TBD ]</a:t>
            </a:r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713232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393192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4360" y="39776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</a:rPr>
              <a:t>How to use this deck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59436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3B8"/>
                </a:solidFill>
              </a:rPr>
              <a:t>This deck covers Weeks 1–3 only. It gives your team the corpus instructions, module spec, and 3-week build plan. Integration details will be shared separately after Demo Day for Week 3.</a:t>
            </a:r>
            <a:endParaRPr lang="en-US" sz="105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Build Phase  ·  Weeks 1–3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>
                <a:solidFill>
                  <a:srgbClr val="14B8A6"/>
                </a:solidFill>
              </a:rPr>
              <a:t>YOUR 3 WEEKS  ·  WHAT HAPPENS WHEN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Weeks. One Module. Ship It.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56032" y="1161903"/>
            <a:ext cx="2788920" cy="3401568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8892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261872"/>
            <a:ext cx="91440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261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WEEK 1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1371600" y="1252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Spec &amp; Corpus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384048" y="15910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4B8A6"/>
                </a:solidFill>
              </a:rPr>
              <a:t>◈ PRACTITIONERS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411480" y="18653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7784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Write your synthetic documents (Days 1–2)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57784" y="2157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Spec your module with spec-kit (Days 3–5)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11480" y="252374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7784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Get spec signed off before any code is written</a:t>
            </a:r>
            <a:endParaRPr lang="en-US" sz="950"/>
          </a:p>
        </p:txBody>
      </p:sp>
      <p:sp>
        <p:nvSpPr>
          <p:cNvPr id="17" name="Text 15"/>
          <p:cNvSpPr/>
          <p:nvPr/>
        </p:nvSpPr>
        <p:spPr>
          <a:xfrm>
            <a:off x="384048" y="2953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F59E0B"/>
                </a:solidFill>
              </a:rPr>
              <a:t>⚙ BUILDERS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411480" y="3227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" y="3191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Set up project scaffold + module interface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11480" y="35570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" y="3520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Install dependencies + prototype core algorithm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Review and challenge the spec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256032" y="4370832"/>
            <a:ext cx="2788920" cy="201168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" y="4379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4B8A6"/>
                </a:solidFill>
              </a:rPr>
              <a:t>✓ Corpus filed  ✓ Spec locked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3200400" y="1170432"/>
            <a:ext cx="2788920" cy="340156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00400" y="1170432"/>
            <a:ext cx="27889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28416" y="1261872"/>
            <a:ext cx="9144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28416" y="1261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2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315968" y="1252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Build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3328416" y="15910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4B8A6"/>
                </a:solidFill>
              </a:rPr>
              <a:t>◈ PRACTITIONERS</a:t>
            </a:r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3355848" y="18653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02152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Test module output against your corpus daily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3355848" y="21945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502152" y="2157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Log failures and edge cases for builders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355848" y="252374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02152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Validate against 5 defined test scenarios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3328416" y="2953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F59E0B"/>
                </a:solidFill>
              </a:rPr>
              <a:t>⚙ BUILDERS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3355848" y="3227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502152" y="3191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Implement core module logic end-to-end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3355848" y="35570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502152" y="3520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Wire POST /evaluate → TrustSignal output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3355848" y="38862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502152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Daily 15-min standup — blockers surface fast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3200400" y="4370832"/>
            <a:ext cx="278892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91840" y="4379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59E0B"/>
                </a:solidFill>
              </a:rPr>
              <a:t>✓ /evaluate endpoint working  ✓ Demo script ready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6144768" y="1170432"/>
            <a:ext cx="2788920" cy="340156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144768" y="1170432"/>
            <a:ext cx="278892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72784" y="1261872"/>
            <a:ext cx="9144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72784" y="1261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3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7260336" y="1252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Polish &amp; Demo</a:t>
            </a:r>
            <a:endParaRPr lang="en-US" sz="1300"/>
          </a:p>
        </p:txBody>
      </p:sp>
      <p:sp>
        <p:nvSpPr>
          <p:cNvPr id="52" name="Text 50"/>
          <p:cNvSpPr/>
          <p:nvPr/>
        </p:nvSpPr>
        <p:spPr>
          <a:xfrm>
            <a:off x="6272784" y="1591056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14B8A6"/>
                </a:solidFill>
              </a:rPr>
              <a:t>◈ PRACTITIONERS</a:t>
            </a:r>
            <a:endParaRPr lang="en-US" sz="800"/>
          </a:p>
        </p:txBody>
      </p:sp>
      <p:sp>
        <p:nvSpPr>
          <p:cNvPr id="53" name="Shape 51"/>
          <p:cNvSpPr/>
          <p:nvPr/>
        </p:nvSpPr>
        <p:spPr>
          <a:xfrm>
            <a:off x="6300216" y="18653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46520" y="18288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Cross-corpus test (use other teams' docs)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6300216" y="21945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446520" y="2157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Write and rehearse standalone demo narrative</a:t>
            </a:r>
            <a:endParaRPr lang="en-US" sz="950"/>
          </a:p>
        </p:txBody>
      </p:sp>
      <p:sp>
        <p:nvSpPr>
          <p:cNvPr id="57" name="Shape 55"/>
          <p:cNvSpPr/>
          <p:nvPr/>
        </p:nvSpPr>
        <p:spPr>
          <a:xfrm>
            <a:off x="6300216" y="252374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46520" y="24871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</a:rPr>
              <a:t>Prepare 5-min pitch: problem → module → impact</a:t>
            </a:r>
            <a:endParaRPr lang="en-US" sz="950"/>
          </a:p>
        </p:txBody>
      </p:sp>
      <p:sp>
        <p:nvSpPr>
          <p:cNvPr id="59" name="Text 57"/>
          <p:cNvSpPr/>
          <p:nvPr/>
        </p:nvSpPr>
        <p:spPr>
          <a:xfrm>
            <a:off x="6272784" y="295351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F59E0B"/>
                </a:solidFill>
              </a:rPr>
              <a:t>⚙ BUILDERS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300216" y="3227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46520" y="31912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Add MCP server if not done (stretch goal)</a:t>
            </a:r>
            <a:endParaRPr lang="en-US" sz="950"/>
          </a:p>
        </p:txBody>
      </p:sp>
      <p:sp>
        <p:nvSpPr>
          <p:cNvPr id="62" name="Shape 60"/>
          <p:cNvSpPr/>
          <p:nvPr/>
        </p:nvSpPr>
        <p:spPr>
          <a:xfrm>
            <a:off x="6300216" y="355701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46520" y="35204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Fix edge cases from cross-corpus tests</a:t>
            </a:r>
            <a:endParaRPr lang="en-US" sz="950"/>
          </a:p>
        </p:txBody>
      </p:sp>
      <p:sp>
        <p:nvSpPr>
          <p:cNvPr id="64" name="Shape 62"/>
          <p:cNvSpPr/>
          <p:nvPr/>
        </p:nvSpPr>
        <p:spPr>
          <a:xfrm>
            <a:off x="6300216" y="38862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46520" y="38496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Integration handshake test with Trust Router</a:t>
            </a:r>
            <a:endParaRPr lang="en-US" sz="950"/>
          </a:p>
        </p:txBody>
      </p:sp>
      <p:sp>
        <p:nvSpPr>
          <p:cNvPr id="66" name="Shape 64"/>
          <p:cNvSpPr/>
          <p:nvPr/>
        </p:nvSpPr>
        <p:spPr>
          <a:xfrm>
            <a:off x="6144768" y="4370832"/>
            <a:ext cx="2788920" cy="201168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236208" y="4379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97316"/>
                </a:solidFill>
              </a:rPr>
              <a:t>✓ Standalone demo live  ✓ Pitch ready</a:t>
            </a:r>
            <a:endParaRPr lang="en-US" sz="900"/>
          </a:p>
        </p:txBody>
      </p:sp>
      <p:sp>
        <p:nvSpPr>
          <p:cNvPr id="68" name="Shape 66"/>
          <p:cNvSpPr/>
          <p:nvPr/>
        </p:nvSpPr>
        <p:spPr>
          <a:xfrm>
            <a:off x="256032" y="4636008"/>
            <a:ext cx="8631936" cy="201168"/>
          </a:xfrm>
          <a:prstGeom prst="rect">
            <a:avLst/>
          </a:prstGeom>
          <a:solidFill>
            <a:srgbClr val="1A120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256032" y="4645152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F59E0B"/>
                </a:solidFill>
              </a:rPr>
              <a:t>After Week 3  →  Integration Phase begins (Weeks 4–6). Your module plugs into the shared Trust Router. Details shared post-sprint.</a:t>
            </a:r>
            <a:endParaRPr lang="en-US" sz="950"/>
          </a:p>
        </p:txBody>
      </p:sp>
      <p:sp>
        <p:nvSpPr>
          <p:cNvPr id="70" name="Shape 6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Championship Timeline  ·  Your 3 Weeks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>
                <a:solidFill>
                  <a:srgbClr val="A78BFA"/>
                </a:solidFill>
              </a:rPr>
              <a:t>EVERY TEAM  ·  NON-NEGOTIABLES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Playbook.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43200" cy="3566160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4B8A6"/>
                </a:solidFill>
              </a:rPr>
              <a:t>Architecture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438912" y="16367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Autonomous by design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438912" y="18379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Your module runs independently. You own your own data layer if you need one. The Trust Router only calls your REST API.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38912" y="244144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40487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Shared input contract</a:t>
            </a:r>
            <a:endParaRPr lang="en-US" sz="1050"/>
          </a:p>
        </p:txBody>
      </p:sp>
      <p:sp>
        <p:nvSpPr>
          <p:cNvPr id="13" name="Text 11"/>
          <p:cNvSpPr/>
          <p:nvPr/>
        </p:nvSpPr>
        <p:spPr>
          <a:xfrm>
            <a:off x="438912" y="264261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Every module receives a KnowledgeTask: { query, rag_answer, sources[], task_type }. You cannot change this.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38912" y="324612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2095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Shared output contract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438912" y="344728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Every module returns a TrustSignal: { score, evidence[], flags[], applies_to, module, details{} }. Core fields are locked. details{} is yours.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3246120" y="1143000"/>
            <a:ext cx="2743200" cy="356616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246120" y="1143000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</a:rPr>
              <a:t>Delivery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3410712" y="16367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160020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REST API — required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410712" y="183794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POST /evaluate accepts KnowledgeTask JSON. Returns TrustSignal JSON. Must run locally. This is how the Trust Router calls you.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410712" y="24414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566160" y="2404872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MCP server — stretch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3410712" y="2642616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Wrap your /evaluate endpoint as an MCP tool. Enables Claude and any LLM agent to call your module directly. Earns bonus marks.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3410712" y="324612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566160" y="3209544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Standalone demo — required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410712" y="344728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A script or notebook that demonstrates your module working on its own corpus without the Trust Router. Judges will run this first.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6217920" y="1143000"/>
            <a:ext cx="2606040" cy="3566160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1143000"/>
            <a:ext cx="260604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12344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97316"/>
                </a:solidFill>
              </a:rPr>
              <a:t>Process</a:t>
            </a:r>
            <a:endParaRPr lang="en-US" sz="1300"/>
          </a:p>
        </p:txBody>
      </p:sp>
      <p:sp>
        <p:nvSpPr>
          <p:cNvPr id="32" name="Shape 30"/>
          <p:cNvSpPr/>
          <p:nvPr/>
        </p:nvSpPr>
        <p:spPr>
          <a:xfrm>
            <a:off x="6382512" y="1636776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37960" y="1600200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Spec before code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6382512" y="1837944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Practitioners write the spec via spec-kit. Builders do not start implementation until spec is reviewed and locked on Day 5.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6382512" y="244144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37960" y="2404872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Corpus in 48 hours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6382512" y="2642616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All synthetic docs placed in /corpus/[team-name]/ by end of Day 2. Other teams depend on your files.</a:t>
            </a:r>
            <a:endParaRPr lang="en-US" sz="950"/>
          </a:p>
        </p:txBody>
      </p:sp>
      <p:sp>
        <p:nvSpPr>
          <p:cNvPr id="38" name="Shape 36"/>
          <p:cNvSpPr/>
          <p:nvPr/>
        </p:nvSpPr>
        <p:spPr>
          <a:xfrm>
            <a:off x="6382512" y="324612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537960" y="3209544"/>
            <a:ext cx="216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8FAFC"/>
                </a:solidFill>
              </a:rPr>
              <a:t>Daily 15-min standup</a:t>
            </a:r>
            <a:endParaRPr lang="en-US" sz="1050"/>
          </a:p>
        </p:txBody>
      </p:sp>
      <p:sp>
        <p:nvSpPr>
          <p:cNvPr id="40" name="Text 38"/>
          <p:cNvSpPr/>
          <p:nvPr/>
        </p:nvSpPr>
        <p:spPr>
          <a:xfrm>
            <a:off x="6382512" y="3447288"/>
            <a:ext cx="2350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What did I do. What am I doing. What is blocking me. No more. No less.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274320" y="4645152"/>
            <a:ext cx="8549640" cy="201168"/>
          </a:xfrm>
          <a:prstGeom prst="rect">
            <a:avLst/>
          </a:prstGeom>
          <a:solidFill>
            <a:srgbClr val="0A0E1A"/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4654296"/>
            <a:ext cx="8549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14B8A6"/>
                </a:solidFill>
              </a:rPr>
              <a:t>KnowledgeTask  { query: str,  rag_answer: str,  sources: [{text, doc_id, chunk_id}],  task_type: 'factual'|'synthesis'|'expert'|'regulatory'|'exploratory' }</a:t>
            </a:r>
            <a:endParaRPr lang="en-US" sz="950"/>
          </a:p>
        </p:txBody>
      </p:sp>
      <p:sp>
        <p:nvSpPr>
          <p:cNvPr id="43" name="Shape 4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All Teams  ·  Common Playbook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>
                <a:solidFill>
                  <a:srgbClr val="F59E0B"/>
                </a:solidFill>
              </a:rPr>
              <a:t>SHARED CORPUS  ·  ALL TEAMS  ·  DUE END OF DAY 2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Build Before You Build Anything.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1600200" cy="256032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2471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9E0B"/>
                </a:solidFill>
              </a:rPr>
              <a:t>TEAM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1920240" y="1115568"/>
            <a:ext cx="2011680" cy="256032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011680" y="1124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9E0B"/>
                </a:solidFill>
              </a:rPr>
              <a:t>FILES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977640" y="1115568"/>
            <a:ext cx="2011680" cy="256032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069080" y="11247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9E0B"/>
                </a:solidFill>
              </a:rPr>
              <a:t>DOCUMENT TYPE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6035040" y="1115568"/>
            <a:ext cx="1691640" cy="256032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12471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9E0B"/>
                </a:solidFill>
              </a:rPr>
              <a:t>CRITICAL RULES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7772400" y="1115568"/>
            <a:ext cx="1234440" cy="256032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63840" y="112471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F59E0B"/>
                </a:solidFill>
              </a:rPr>
              <a:t>CONSUMED BY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274320" y="1426464"/>
            <a:ext cx="8549640" cy="6126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1426464"/>
            <a:ext cx="54864" cy="6126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14996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4B8A6"/>
                </a:solidFill>
              </a:rPr>
              <a:t>ATHENA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84048" y="172821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</a:rPr>
              <a:t>Fact-Checker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196596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</a:rPr>
              <a:t>10 × .txt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023360" y="15179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Factual / Policy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~400w, numbered claims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6080760" y="151790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4–6 verifiable claims each · 50% contain subtle errors · Separate truth file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7818120" y="151790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4B8A6"/>
                </a:solidFill>
              </a:rPr>
              <a:t>Themis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14B8A6"/>
                </a:solidFill>
              </a:rPr>
              <a:t>Prometheus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274320" y="2066544"/>
            <a:ext cx="8549640" cy="612648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54864" cy="6126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1396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78BFA"/>
                </a:solidFill>
              </a:rPr>
              <a:t>APOLLO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384048" y="23682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</a:rPr>
              <a:t>Graph Navigator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1965960" y="22311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</a:rPr>
              <a:t>12 × .txt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4023360" y="21579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Entity-rich narrative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~400w, dense entities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6080760" y="2157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25+ named entities · 5 multi-hop chains (depth 3+) · Entity-relationship ground truth table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818120" y="21579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A78BFA"/>
                </a:solidFill>
              </a:rPr>
              <a:t>Hermes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A78BFA"/>
                </a:solidFill>
              </a:rPr>
              <a:t>Athena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274320" y="2706624"/>
            <a:ext cx="8549640" cy="6126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706624"/>
            <a:ext cx="54864" cy="6126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84048" y="27797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59E0B"/>
                </a:solidFill>
              </a:rPr>
              <a:t>PROMETHEUS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384048" y="300837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</a:rPr>
              <a:t>Inspector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1965960" y="287121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</a:rPr>
              <a:t>10 × .json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4023360" y="279806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Eval triplets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{doc, question, answer}</a:t>
            </a:r>
            <a:endParaRPr lang="en-US" sz="950"/>
          </a:p>
        </p:txBody>
      </p:sp>
      <p:sp>
        <p:nvSpPr>
          <p:cNvPr id="37" name="Text 35"/>
          <p:cNvSpPr/>
          <p:nvPr/>
        </p:nvSpPr>
        <p:spPr>
          <a:xfrm>
            <a:off x="6080760" y="27980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5 faithful + 5 hallucinated · Plausible hallucinations · Hallucinated spans explicitly labelled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7818120" y="27980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</a:rPr>
              <a:t>Athena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59E0B"/>
                </a:solidFill>
              </a:rPr>
              <a:t>Themis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274320" y="3346704"/>
            <a:ext cx="8549640" cy="612648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346704"/>
            <a:ext cx="54864" cy="6126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84048" y="34198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97316"/>
                </a:solidFill>
              </a:rPr>
              <a:t>HERMES</a:t>
            </a:r>
            <a:endParaRPr lang="en-US" sz="1100"/>
          </a:p>
        </p:txBody>
      </p:sp>
      <p:sp>
        <p:nvSpPr>
          <p:cNvPr id="42" name="Text 40"/>
          <p:cNvSpPr/>
          <p:nvPr/>
        </p:nvSpPr>
        <p:spPr>
          <a:xfrm>
            <a:off x="384048" y="36484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</a:rPr>
              <a:t>Scout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1965960" y="351129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</a:rPr>
              <a:t>15 × .txt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4023360" y="34381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Author-attributed docs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YAML front-matter</a:t>
            </a:r>
            <a:endParaRPr lang="en-US" sz="950"/>
          </a:p>
        </p:txBody>
      </p:sp>
      <p:sp>
        <p:nvSpPr>
          <p:cNvPr id="45" name="Text 43"/>
          <p:cNvSpPr/>
          <p:nvPr/>
        </p:nvSpPr>
        <p:spPr>
          <a:xfrm>
            <a:off x="6080760" y="34381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5 domains × 3 docs · 4 authors in 2+ docs · 3 gap docs with no author metadata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7818120" y="343814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97316"/>
                </a:solidFill>
              </a:rPr>
              <a:t>Apollo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97316"/>
                </a:solidFill>
              </a:rPr>
              <a:t>Athena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274320" y="3986784"/>
            <a:ext cx="8549640" cy="6126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74320" y="3986784"/>
            <a:ext cx="54864" cy="61264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84048" y="40599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2C55E"/>
                </a:solidFill>
              </a:rPr>
              <a:t>THEMIS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384048" y="42885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475569"/>
                </a:solidFill>
              </a:rPr>
              <a:t>Provenance Officer</a:t>
            </a:r>
            <a:endParaRPr lang="en-US" sz="900"/>
          </a:p>
        </p:txBody>
      </p:sp>
      <p:sp>
        <p:nvSpPr>
          <p:cNvPr id="51" name="Text 49"/>
          <p:cNvSpPr/>
          <p:nvPr/>
        </p:nvSpPr>
        <p:spPr>
          <a:xfrm>
            <a:off x="1965960" y="41513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8FAFC"/>
                </a:solidFill>
              </a:rPr>
              <a:t>15 × .txt</a:t>
            </a:r>
            <a:endParaRPr lang="en-US" sz="1100"/>
          </a:p>
        </p:txBody>
      </p:sp>
      <p:sp>
        <p:nvSpPr>
          <p:cNvPr id="52" name="Text 50"/>
          <p:cNvSpPr/>
          <p:nvPr/>
        </p:nvSpPr>
        <p:spPr>
          <a:xfrm>
            <a:off x="4023360" y="40782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Versioned doc clusters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YAML front-matter</a:t>
            </a:r>
            <a:endParaRPr lang="en-US" sz="950"/>
          </a:p>
        </p:txBody>
      </p:sp>
      <p:sp>
        <p:nvSpPr>
          <p:cNvPr id="53" name="Text 51"/>
          <p:cNvSpPr/>
          <p:nvPr/>
        </p:nvSpPr>
        <p:spPr>
          <a:xfrm>
            <a:off x="6080760" y="40782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5 clusters × 3 versions (v1/v2/v3) · v3 contradicts v1 · 2 clusters have regulatory_domain</a:t>
            </a:r>
            <a:endParaRPr lang="en-US" sz="900"/>
          </a:p>
        </p:txBody>
      </p:sp>
      <p:sp>
        <p:nvSpPr>
          <p:cNvPr id="54" name="Text 52"/>
          <p:cNvSpPr/>
          <p:nvPr/>
        </p:nvSpPr>
        <p:spPr>
          <a:xfrm>
            <a:off x="7818120" y="407822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</a:rPr>
              <a:t>Athena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22C55E"/>
                </a:solidFill>
              </a:rPr>
              <a:t>Prometheus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274320" y="4645152"/>
            <a:ext cx="8549640" cy="201168"/>
          </a:xfrm>
          <a:prstGeom prst="rect">
            <a:avLst/>
          </a:prstGeom>
          <a:solidFill>
            <a:srgbClr val="1A120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4654296"/>
            <a:ext cx="8549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F59E0B"/>
                </a:solidFill>
              </a:rPr>
              <a:t>Place all files in  /corpus/[team-name]/  by end of Day 2. Every team has read access to every other team's folder from Day 1.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Shared Corpus  ·  All 5 Teams  ·  Due Day 2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Corpus Document Guide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94944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14B8A6"/>
                </a:solidFill>
              </a:rPr>
              <a:t>Fact-Checker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Abhashri  ·  Abhishek  ·  Naved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Taruna  ·  Soniya  ·  Deepa  ·  Babita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INDUSTRY / DOMAIN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320040" y="868680"/>
            <a:ext cx="4114800" cy="237744"/>
          </a:xfrm>
          <a:prstGeom prst="rect">
            <a:avLst/>
          </a:prstGeom>
          <a:solidFill>
            <a:srgbClr val="14B8A6">
              <a:alpha val="12000"/>
            </a:srgbClr>
          </a:solidFill>
          <a:ln w="12700">
            <a:solidFill>
              <a:srgbClr val="14B8A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886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8FAFC"/>
                </a:solidFill>
              </a:rPr>
              <a:t>Consulting strategy &amp; technology policy (your choice of 2 sub-domains)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20040" y="11795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FILE NAMING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411480" y="1362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athena_doc_01.txt … athena_doc_10.txt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20040" y="1600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FORMAT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1148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Plain text (.txt)  ·  ~400 words each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20040" y="2057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REQUIRED STRUCTURE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56616" y="228600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Title + 'Topic: [domain]' header at top of file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56616" y="246888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4–6 numbered claims labelled [CLAIM 1] … [CLAIM 6] in body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56616" y="26517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Two domains — 5 docs in each (pick 2 and stay consistent)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56616" y="283464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truth_file.txt: CLAIM N → CORRECT / INCORRECT + actual value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3081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QUALITY CHECKLIST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356616" y="32644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" y="3264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Claims must cite specific numbers, dates, or named entities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56616" y="344728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≥2 wrong claims per doc — plausible but verifiably incorrect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56616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02920" y="3630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Wrong claims need a second look to spot — not obviously false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616" y="3813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0292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Domains consistent across all 10 docs — don't mix randomly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685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EXAMPLE DOCUMENT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7498080" y="685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>
                <a:solidFill>
                  <a:srgbClr val="475569"/>
                </a:solidFill>
              </a:rPr>
              <a:t>write yours like this →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4754880" y="886968"/>
            <a:ext cx="4069080" cy="3913632"/>
          </a:xfrm>
          <a:prstGeom prst="rect">
            <a:avLst/>
          </a:prstGeom>
          <a:solidFill>
            <a:srgbClr val="030608"/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886968"/>
            <a:ext cx="4069080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01184" y="9509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FILENAME: athena_doc_01.txt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901184" y="11064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 DOMAIN: Consulting Technology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901184" y="12618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4901184" y="14173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in Strategy Consulting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4901184" y="15727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Topic: Consulting Technology (2024)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901184" y="17282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901184" y="1883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Strategy consulting firms have accelerated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4901184" y="203911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adoption significantly since 2022.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901184" y="21945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4901184" y="23500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[CLAIM 1] McKinsey deployed AI tools across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901184" y="25054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80% of client engagements by Q3 2023.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901184" y="266090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[CLAIM 2] BCG platforms reduced research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4901184" y="281635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by 40% in pilot programs.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901184" y="2971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[CLAIM 3] Bain launched NOVA with NLP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querying in February 2023.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4901184" y="328269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[CLAIM 4] Consulting AI market reached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901184" y="343814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$2.1B in 2023, growing at 34% annually.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4901184" y="35935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49011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 truth_file.txt (separate) ────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4901184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1: INCORRECT  (actual: 60%)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901184" y="405993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 4: INCORRECT  (actual: $1.8B)</a:t>
            </a:r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4901184" y="421538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 2, 3: CORRECT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ATHENA  ·  Corpus Document Guide  ·  Due Day 2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APOLLO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Corpus Document Guide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94944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A78BFA"/>
                </a:solidFill>
              </a:rPr>
              <a:t>Graph Navigator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Sumit  ·  Sanchit  ·  Himanshu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Nakul  ·  Ankit  ·  Tushar  ·  Vicky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INDUSTRY / DOMAIN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320040" y="868680"/>
            <a:ext cx="4114800" cy="237744"/>
          </a:xfrm>
          <a:prstGeom prst="rect">
            <a:avLst/>
          </a:prstGeom>
          <a:solidFill>
            <a:srgbClr val="A78BFA">
              <a:alpha val="1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886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8FAFC"/>
                </a:solidFill>
              </a:rPr>
              <a:t>Organizational networks, strategic projects, consulting org structure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20040" y="11795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FILE NAMING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411480" y="1362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apollo_entity_01.txt … apollo_entity_12.txt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20040" y="1600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FORMAT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1148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Plain text (.txt)  ·  ~400 words each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20040" y="2057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REQUIRED STRUCTURE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56616" y="228600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Tag entities inline: Name (ENTITY: Person / Org / Project / Role)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56616" y="246888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≥5 distinct entities per doc, 25+ named entities across all 12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56616" y="265176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Multi-hop chains: A → relation → B → relation → C (depth ≥3)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56616" y="283464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entity_map.csv: entity_A, relation, entity_B, source_doc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3081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QUALITY CHECKLIST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356616" y="32644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" y="3264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Use full names — spaCy NER needs them (no initials only)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56616" y="344728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5 chains of depth 3+ explicitly recorded in entity_map.csv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56616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02920" y="3630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3 hub docs — those entities must appear in ≥3 other docs too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616" y="3813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0292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Relations labelled: leads, reports_to, partners_with, founded_by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685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EXAMPLE DOCUMENT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7498080" y="685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>
                <a:solidFill>
                  <a:srgbClr val="475569"/>
                </a:solidFill>
              </a:rPr>
              <a:t>write yours like this →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4754880" y="886968"/>
            <a:ext cx="4069080" cy="3913632"/>
          </a:xfrm>
          <a:prstGeom prst="rect">
            <a:avLst/>
          </a:prstGeom>
          <a:solidFill>
            <a:srgbClr val="030608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886968"/>
            <a:ext cx="406908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01184" y="9509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FILENAME: apollo_entity_01.txt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901184" y="11064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Strategic Projects &amp; Orgs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901184" y="12618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4901184" y="14173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Helios (ENTITY: Project) was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4901184" y="15727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initiated by Sarah Chen (ENTITY: Person,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901184" y="17282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Director) at Meridian Group (ENTITY: Org)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901184" y="1883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Q1 2023.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4901184" y="203911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901184" y="21945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Chen appointed Raj Patel (ENTITY: Person)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4901184" y="23500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lead, reporting to CFO David Marsh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901184" y="25054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(ENTITY: Person).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901184" y="266090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4901184" y="281635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Patel's team partnered with TechCore Ltd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901184" y="2971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(ENTITY: Org), founded by Lin Wei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(ENTITY: Person), on LLM deployment.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4901184" y="328269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901184" y="343814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 entity_map.csv ────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4901184" y="35935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entity_A,relation,entity_B</a:t>
            </a:r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49011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Sarah_Chen,leads,Project_Helios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4901184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Project_Helios,hosted_by,Meridian_Group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901184" y="405993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Raj_Patel,reports_to,David_Marsh</a:t>
            </a:r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4901184" y="421538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Project_Helios,partners_with,TechCore_Ltd</a:t>
            </a:r>
            <a:endParaRPr lang="en-US" sz="800"/>
          </a:p>
        </p:txBody>
      </p:sp>
      <p:sp>
        <p:nvSpPr>
          <p:cNvPr id="62" name="Text 60"/>
          <p:cNvSpPr/>
          <p:nvPr/>
        </p:nvSpPr>
        <p:spPr>
          <a:xfrm>
            <a:off x="4901184" y="437083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TechCore_Ltd,founded_by,Lin_Wei</a:t>
            </a:r>
            <a:endParaRPr lang="en-US" sz="800"/>
          </a:p>
        </p:txBody>
      </p:sp>
      <p:sp>
        <p:nvSpPr>
          <p:cNvPr id="63" name="Shape 6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APOLLO  ·  Corpus Document Guide  ·  Due Day 2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PROMETHEUS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Corpus Document Guide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94944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F59E0B"/>
                </a:solidFill>
              </a:rPr>
              <a:t>Inspector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F59E0B"/>
                </a:solidFill>
              </a:rPr>
              <a:t>⚙  Heena  ·  Chhavi  ·  Aakash ·  Vinay</a:t>
            </a:r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Srividya  ·  Aparana  ·  Manik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INDUSTRY / DOMAIN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320040" y="868680"/>
            <a:ext cx="4114800" cy="237744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886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8FAFC"/>
                </a:solidFill>
              </a:rPr>
              <a:t>Any knowledge domain — quality is entirely in the JSON structure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20040" y="11795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FILE NAMING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411480" y="1362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prometheus_eval_01.json … prometheus_eval_10.json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20040" y="1600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FORMAT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1148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JSON (.json)  ·  one evaluation triplet per file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20040" y="2057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REQUIRED STRUCTURE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56616" y="22860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document_text: source passage (~150–200 words, factual)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56616" y="2468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question + ai_answer: the test pair being evaluated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56616" y="265176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ground_truth_label: 'FAITHFUL' or 'HALLUCINATION'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56616" y="283464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hallucinated_spans[] + explanation  (empty list if FAITHFUL)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3081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QUALITY CHECKLIST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356616" y="32644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" y="3264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5 files FAITHFUL — answer fully supported by document text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56616" y="344728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5 files HALLUCINATION — spans plausible but verifiably wrong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56616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02920" y="3630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Change numbers, dates or names — don't invent brand-new entities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616" y="3813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0292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Explanation quotes the correct value from document_text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685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EXAMPLE DOCUMENT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7498080" y="685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>
                <a:solidFill>
                  <a:srgbClr val="475569"/>
                </a:solidFill>
              </a:rPr>
              <a:t>write yours like this →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4754880" y="886968"/>
            <a:ext cx="4069080" cy="3913632"/>
          </a:xfrm>
          <a:prstGeom prst="rect">
            <a:avLst/>
          </a:prstGeom>
          <a:solidFill>
            <a:srgbClr val="030608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886968"/>
            <a:ext cx="406908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01184" y="9509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FILENAME: prometheus_eval_03.json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901184" y="11064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901184" y="12618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4901184" y="14173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"document_text": "BCG launched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4901184" y="15727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Deckster in 2022, cutting deck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901184" y="17282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creation time by 30% across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901184" y="1883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200 pilot engagements.",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4901184" y="203911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901184" y="21945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"question": "When was Deckster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4901184" y="23500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launched and what was the impact?",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901184" y="25054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901184" y="266090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"ai_answer": "BCG launched Deckster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4901184" y="281635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2021, reducing time by 50%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901184" y="2971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across 500 engagements.",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4901184" y="328269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"ground_truth_label": "HALLUCINATION",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901184" y="343814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"hallucinated_spans": [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4901184" y="35935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 2021", "50%",</a:t>
            </a:r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49011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"500 engagements"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4901184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901184" y="405993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"explanation": "Doc: 2022, 30%,</a:t>
            </a:r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4901184" y="421538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200 engagements. All 3 changed."</a:t>
            </a:r>
            <a:endParaRPr lang="en-US" sz="800"/>
          </a:p>
        </p:txBody>
      </p:sp>
      <p:sp>
        <p:nvSpPr>
          <p:cNvPr id="62" name="Text 60"/>
          <p:cNvSpPr/>
          <p:nvPr/>
        </p:nvSpPr>
        <p:spPr>
          <a:xfrm>
            <a:off x="4901184" y="437083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/>
          </a:p>
        </p:txBody>
      </p:sp>
      <p:sp>
        <p:nvSpPr>
          <p:cNvPr id="63" name="Shape 6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PROMETHEUS  ·  Corpus Document Guide  ·  Due Day 2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HERMES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Corpus Document Guide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94944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F97316"/>
                </a:solidFill>
              </a:rPr>
              <a:t>Scout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Mahendra G  ·  Mahendra P  ·  Isha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Shailja  ·  Rajbardhan  ·  Naman  ·  Shubham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INDUSTRY / DOMAIN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320040" y="868680"/>
            <a:ext cx="4114800" cy="237744"/>
          </a:xfrm>
          <a:prstGeom prst="rect">
            <a:avLst/>
          </a:prstGeom>
          <a:solidFill>
            <a:srgbClr val="F97316">
              <a:alpha val="12000"/>
            </a:srgbClr>
          </a:solidFill>
          <a:ln w="12700">
            <a:solidFill>
              <a:srgbClr val="F9731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886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8FAFC"/>
                </a:solidFill>
              </a:rPr>
              <a:t>5 domains: AI Ethics · Data Science · Cloud Arch · LLM Eval · Consulting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20040" y="11795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FILE NAMING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411480" y="1362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hermes_expert_01.txt … hermes_expert_15.txt  (3 docs per domain)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20040" y="1600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FORMAT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1148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Plain text (.txt)  ·  YAML front-matter + ~350-word body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20040" y="2057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REQUIRED STRUCTURE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56616" y="228600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YAML block: author_name, expertise_areas[], years_experience, cited_works[]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56616" y="246888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Body: authored article or analysis on the domain topic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56616" y="265176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4 authors must appear in 2+ docs each (build expertise overlap)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56616" y="283464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3 gap docs: remove all author fields — keep topic/date/domain only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3081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QUALITY CHECKLIST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356616" y="32644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" y="3264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YAML must be valid — no curly quotes, no broken lines in values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56616" y="344728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expertise_areas must be proper YAML list: [AI Ethics, Policy]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56616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02920" y="3630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Gap docs: remove author_name, expertise_areas, cited_works entirely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616" y="3813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0292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Cited works look real (author, title, year) — not random strings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685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EXAMPLE DOCUMENT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7498080" y="685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>
                <a:solidFill>
                  <a:srgbClr val="475569"/>
                </a:solidFill>
              </a:rPr>
              <a:t>write yours like this →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4754880" y="886968"/>
            <a:ext cx="4069080" cy="3913632"/>
          </a:xfrm>
          <a:prstGeom prst="rect">
            <a:avLst/>
          </a:prstGeom>
          <a:solidFill>
            <a:srgbClr val="030608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886968"/>
            <a:ext cx="406908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01184" y="9509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FILENAME: hermes_expert_01.txt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901184" y="11064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DOMAIN: AI Ethics &amp; Governance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901184" y="12618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4901184" y="14173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4901184" y="15727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author_name: Dr. Priya Sharma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901184" y="17282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expertise_areas: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901184" y="1883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AI Ethics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4901184" y="203911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LLM Policy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901184" y="21945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Governance Frameworks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4901184" y="23500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years_experience: 12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901184" y="25054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cited_works: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901184" y="266090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IEEE Ethics Guidelines 2023</a:t>
            </a: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4901184" y="281635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EU AI Act Summary 2024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901184" y="2971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4901184" y="328269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Ethical Frameworks for Enterprise LLM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901184" y="343814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4901184" y="35935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organisations deploy LLMs at scale,</a:t>
            </a:r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49011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governance must address three risks: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4901184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hallucination in high-stakes decisions,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901184" y="405993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provenance opacity, and bias in</a:t>
            </a:r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4901184" y="421538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retrieval...</a:t>
            </a:r>
            <a:endParaRPr lang="en-US" sz="800"/>
          </a:p>
        </p:txBody>
      </p:sp>
      <p:sp>
        <p:nvSpPr>
          <p:cNvPr id="62" name="Text 60"/>
          <p:cNvSpPr/>
          <p:nvPr/>
        </p:nvSpPr>
        <p:spPr>
          <a:xfrm>
            <a:off x="4901184" y="437083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63" name="Text 61"/>
          <p:cNvSpPr/>
          <p:nvPr/>
        </p:nvSpPr>
        <p:spPr>
          <a:xfrm>
            <a:off x="4901184" y="452628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GAP DOC: omit author_name,</a:t>
            </a:r>
            <a:endParaRPr lang="en-US" sz="800"/>
          </a:p>
        </p:txBody>
      </p:sp>
      <p:sp>
        <p:nvSpPr>
          <p:cNvPr id="64" name="Text 62"/>
          <p:cNvSpPr/>
          <p:nvPr/>
        </p:nvSpPr>
        <p:spPr>
          <a:xfrm>
            <a:off x="4901184" y="468172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expertise_areas, cited_works ──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HERMES  ·  Corpus Document Guide  ·  Due Day 2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2C55E"/>
                </a:solidFill>
              </a:rPr>
              <a:t>THEMIS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Corpus Document Guide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949440" y="1097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22C55E"/>
                </a:solidFill>
              </a:rPr>
              <a:t>Provenance Officer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Sajal  ·  Harendra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Ankita  ·  Arpit  ·  Rohit  ·  Tushar Jain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INDUSTRY / DOMAIN</a:t>
            </a:r>
            <a:endParaRPr lang="en-US" sz="800"/>
          </a:p>
        </p:txBody>
      </p:sp>
      <p:sp>
        <p:nvSpPr>
          <p:cNvPr id="11" name="Shape 9"/>
          <p:cNvSpPr/>
          <p:nvPr/>
        </p:nvSpPr>
        <p:spPr>
          <a:xfrm>
            <a:off x="320040" y="868680"/>
            <a:ext cx="4114800" cy="237744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8869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8FAFC"/>
                </a:solidFill>
              </a:rPr>
              <a:t>Policy, compliance &amp; regulatory domains (GDPR, data retention, IP law, etc.)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20040" y="117957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FILE NAMING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411480" y="136245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themis_cluster01_v1.txt … themis_cluster05_v3.txt  (5 clusters × 3 versions)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20040" y="16002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FORMAT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411480" y="17830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94A3B8"/>
                </a:solidFill>
              </a:rPr>
              <a:t>Plain text (.txt)  ·  YAML front-matter + ~350-word policy body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20040" y="20574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REQUIRED STRUCTURE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56616" y="228600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24028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YAML: author, date, version (v1/v2/v3), source_type, regulatory_domain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356616" y="246888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4231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v1 = original  ·  v2 = updates some facts  ·  v3 contradicts v1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56616" y="265176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6060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≥1 specific claim in v3 must directly contradict a claim in v1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56616" y="283464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7889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conflict_map.txt: cluster, doc_a, doc_b, conflicting_claim (exact quotes)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30815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QUALITY CHECKLIST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356616" y="326440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02920" y="3264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Contradiction must be clear and quotable — not just a tone shift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56616" y="344728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Dates must differ clearly between versions (e.g. 2021 → 2024)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356616" y="363016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502920" y="3630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2+ clusters must have a regulatory_domain tag (GDPR, ISO 27001…)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616" y="3813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59E0B"/>
                </a:solidFill>
              </a:rPr>
              <a:t>✓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502920" y="38130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v3 should read like a legitimate policy update, not obvious tampering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6858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EXAMPLE DOCUMENT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7498080" y="68580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>
                <a:solidFill>
                  <a:srgbClr val="475569"/>
                </a:solidFill>
              </a:rPr>
              <a:t>write yours like this →</a:t>
            </a:r>
            <a:endParaRPr lang="en-US" sz="750"/>
          </a:p>
        </p:txBody>
      </p:sp>
      <p:sp>
        <p:nvSpPr>
          <p:cNvPr id="38" name="Shape 36"/>
          <p:cNvSpPr/>
          <p:nvPr/>
        </p:nvSpPr>
        <p:spPr>
          <a:xfrm>
            <a:off x="4754880" y="886968"/>
            <a:ext cx="4069080" cy="3913632"/>
          </a:xfrm>
          <a:prstGeom prst="rect">
            <a:avLst/>
          </a:prstGeom>
          <a:solidFill>
            <a:srgbClr val="030608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886968"/>
            <a:ext cx="406908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901184" y="95097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themis_cluster01_v1.txt ──</a:t>
            </a:r>
            <a:endParaRPr lang="en-US" sz="800"/>
          </a:p>
        </p:txBody>
      </p:sp>
      <p:sp>
        <p:nvSpPr>
          <p:cNvPr id="41" name="Text 39"/>
          <p:cNvSpPr/>
          <p:nvPr/>
        </p:nvSpPr>
        <p:spPr>
          <a:xfrm>
            <a:off x="4901184" y="110642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/>
          </a:p>
        </p:txBody>
      </p:sp>
      <p:sp>
        <p:nvSpPr>
          <p:cNvPr id="42" name="Text 40"/>
          <p:cNvSpPr/>
          <p:nvPr/>
        </p:nvSpPr>
        <p:spPr>
          <a:xfrm>
            <a:off x="4901184" y="126187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author: Legal Team</a:t>
            </a: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4901184" y="141732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2021-03-15  |  version: v1</a:t>
            </a:r>
            <a:endParaRPr lang="en-US" sz="800"/>
          </a:p>
        </p:txBody>
      </p:sp>
      <p:sp>
        <p:nvSpPr>
          <p:cNvPr id="44" name="Text 42"/>
          <p:cNvSpPr/>
          <p:nvPr/>
        </p:nvSpPr>
        <p:spPr>
          <a:xfrm>
            <a:off x="4901184" y="15727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source_type: internal_policy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4901184" y="172821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regulatory_domain: GDPR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4901184" y="188366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/>
          </a:p>
        </p:txBody>
      </p:sp>
      <p:sp>
        <p:nvSpPr>
          <p:cNvPr id="47" name="Text 45"/>
          <p:cNvSpPr/>
          <p:nvPr/>
        </p:nvSpPr>
        <p:spPr>
          <a:xfrm>
            <a:off x="4901184" y="203911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Retention Policy (2021)</a:t>
            </a:r>
            <a:endParaRPr lang="en-US" sz="800"/>
          </a:p>
        </p:txBody>
      </p:sp>
      <p:sp>
        <p:nvSpPr>
          <p:cNvPr id="48" name="Text 46"/>
          <p:cNvSpPr/>
          <p:nvPr/>
        </p:nvSpPr>
        <p:spPr>
          <a:xfrm>
            <a:off x="4901184" y="219456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data must be retained for a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4901184" y="23500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 of 3 years after project close.</a:t>
            </a:r>
            <a:endParaRPr lang="en-US" sz="800"/>
          </a:p>
        </p:txBody>
      </p:sp>
      <p:sp>
        <p:nvSpPr>
          <p:cNvPr id="50" name="Text 48"/>
          <p:cNvSpPr/>
          <p:nvPr/>
        </p:nvSpPr>
        <p:spPr>
          <a:xfrm>
            <a:off x="4901184" y="250545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older than 5 years to be purged.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4901184" y="266090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52" name="Text 50"/>
          <p:cNvSpPr/>
          <p:nvPr/>
        </p:nvSpPr>
        <p:spPr>
          <a:xfrm>
            <a:off x="4901184" y="281635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themis_cluster01_v3.txt ──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4901184" y="297180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2024-01-10  |  version: v3</a:t>
            </a:r>
            <a:endParaRPr lang="en-US" sz="800"/>
          </a:p>
        </p:txBody>
      </p:sp>
      <p:sp>
        <p:nvSpPr>
          <p:cNvPr id="55" name="Text 53"/>
          <p:cNvSpPr/>
          <p:nvPr/>
        </p:nvSpPr>
        <p:spPr>
          <a:xfrm>
            <a:off x="4901184" y="328269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regulatory_domain: GDPR</a:t>
            </a:r>
            <a:endParaRPr lang="en-US" sz="800"/>
          </a:p>
        </p:txBody>
      </p:sp>
      <p:sp>
        <p:nvSpPr>
          <p:cNvPr id="56" name="Text 54"/>
          <p:cNvSpPr/>
          <p:nvPr/>
        </p:nvSpPr>
        <p:spPr>
          <a:xfrm>
            <a:off x="4901184" y="343814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800"/>
          </a:p>
        </p:txBody>
      </p:sp>
      <p:sp>
        <p:nvSpPr>
          <p:cNvPr id="57" name="Text 55"/>
          <p:cNvSpPr/>
          <p:nvPr/>
        </p:nvSpPr>
        <p:spPr>
          <a:xfrm>
            <a:off x="4901184" y="359359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 (2023 GDPR amendment):</a:t>
            </a:r>
            <a:endParaRPr lang="en-US" sz="800"/>
          </a:p>
        </p:txBody>
      </p:sp>
      <p:sp>
        <p:nvSpPr>
          <p:cNvPr id="58" name="Text 56"/>
          <p:cNvSpPr/>
          <p:nvPr/>
        </p:nvSpPr>
        <p:spPr>
          <a:xfrm>
            <a:off x="4901184" y="374904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period is now 7 years.</a:t>
            </a:r>
            <a:endParaRPr lang="en-US" sz="800"/>
          </a:p>
        </p:txBody>
      </p:sp>
      <p:sp>
        <p:nvSpPr>
          <p:cNvPr id="59" name="Text 57"/>
          <p:cNvSpPr/>
          <p:nvPr/>
        </p:nvSpPr>
        <p:spPr>
          <a:xfrm>
            <a:off x="4901184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901184" y="4059936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conflict_map.txt ──</a:t>
            </a:r>
            <a:endParaRPr lang="en-US" sz="800"/>
          </a:p>
        </p:txBody>
      </p:sp>
      <p:sp>
        <p:nvSpPr>
          <p:cNvPr id="61" name="Text 59"/>
          <p:cNvSpPr/>
          <p:nvPr/>
        </p:nvSpPr>
        <p:spPr>
          <a:xfrm>
            <a:off x="4901184" y="4215384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cluster01 | v1 vs v3</a:t>
            </a:r>
            <a:endParaRPr lang="en-US" sz="800"/>
          </a:p>
        </p:txBody>
      </p:sp>
      <p:sp>
        <p:nvSpPr>
          <p:cNvPr id="62" name="Text 60"/>
          <p:cNvSpPr/>
          <p:nvPr/>
        </p:nvSpPr>
        <p:spPr>
          <a:xfrm>
            <a:off x="4901184" y="4370832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v1: 'minimum of 3 years'</a:t>
            </a:r>
            <a:endParaRPr lang="en-US" sz="800"/>
          </a:p>
        </p:txBody>
      </p:sp>
      <p:sp>
        <p:nvSpPr>
          <p:cNvPr id="63" name="Text 61"/>
          <p:cNvSpPr/>
          <p:nvPr/>
        </p:nvSpPr>
        <p:spPr>
          <a:xfrm>
            <a:off x="4901184" y="4526280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v3: 'now 7 years'  ← CONFLICT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THEMIS  ·  Corpus Document Guide  ·  Due Day 2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Fact-Checker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577840" y="109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475569"/>
                </a:solidFill>
              </a:rPr>
              <a:t>Goddess of Wisdom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Abhashri  ·  Abhishek  ·  Naved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Taruna  ·  Soniya  ·  Deepa  ·  Babita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WHAT IT DOES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320040" y="868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Verifies every factual claim in a RAG answer against its source passages. Returns a grounding score per claim, highlights unsupported or contradicted statements, and produces a composite trust score.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20040" y="1399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INPUT  (from KnowledgeTask)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347472" y="161848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581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query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47472" y="178308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746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rag_answer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47472" y="194767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11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sources[ ]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20040" y="21305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OUTPUT  (TrustSignal core)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47472" y="235000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1343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score: 0–1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47472" y="251460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478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evidence: supporting passages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7472" y="267919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6426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flags: UNSUPPORTED / CONTRADICTED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28620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475569"/>
                </a:solidFill>
              </a:rPr>
              <a:t>details  { }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57200" y="3044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claim_scores: [{claim, score, evidence_idx}]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457200" y="31912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unsupported_claims: [string]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contradiction_flags: [string]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320040" y="3538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TECH STACK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347472" y="375818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72160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Groq LLaMA 3 — claim extraction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47472" y="392277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sentence-transformers — similarity scoring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347472" y="4087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05079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Pure Python — no vector DB required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54880" y="685800"/>
            <a:ext cx="406908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685800"/>
            <a:ext cx="40690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92040" y="777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14B8A6"/>
                </a:solidFill>
              </a:rPr>
              <a:t>CORPUS CONTRIBUTION  ·  Due Day 2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4B8A6"/>
                </a:solidFill>
              </a:rPr>
              <a:t>10 files  ·  athena_doc_01.txt … athena_doc_10.txt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489204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8FAFC"/>
                </a:solidFill>
              </a:rPr>
              <a:t>Factual / Policy documents (~400 words each)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4919472" y="15087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74920" y="14721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Each doc contains 4–6 numbered, verifiable claims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4919472" y="1746504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74920" y="170992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Two topic domains — 5 docs each (e.g. consulting frameworks + tech strategy)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919472" y="198424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74920" y="19476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At least 2 claims per doc are subtly incorrect or outdated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4919472" y="222199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74920" y="21854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Maintain a separate truth file: claim → correct / incorrect label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4754880" y="2578608"/>
            <a:ext cx="4069080" cy="960120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89204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CORPUS CONSUMED FROM OTHERS</a:t>
            </a:r>
            <a:endParaRPr lang="en-US" sz="800"/>
          </a:p>
        </p:txBody>
      </p:sp>
      <p:sp>
        <p:nvSpPr>
          <p:cNvPr id="54" name="Shape 52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2C55E"/>
                </a:solidFill>
              </a:rPr>
              <a:t>Themis</a:t>
            </a:r>
            <a:endParaRPr lang="en-US" sz="850"/>
          </a:p>
        </p:txBody>
      </p:sp>
      <p:sp>
        <p:nvSpPr>
          <p:cNvPr id="56" name="Text 54"/>
          <p:cNvSpPr/>
          <p:nvPr/>
        </p:nvSpPr>
        <p:spPr>
          <a:xfrm>
            <a:off x="5715000" y="2871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Conflicting-version docs stress-test contradicted claims</a:t>
            </a:r>
            <a:endParaRPr lang="en-US" sz="850"/>
          </a:p>
        </p:txBody>
      </p:sp>
      <p:sp>
        <p:nvSpPr>
          <p:cNvPr id="57" name="Shape 55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Prometheus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5715000" y="31821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Eval pairs benchmark scorer precision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4754880" y="3611880"/>
            <a:ext cx="4069080" cy="11430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92040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DELIVERABLES EXPECTED</a:t>
            </a:r>
            <a:endParaRPr lang="en-US" sz="800"/>
          </a:p>
        </p:txBody>
      </p:sp>
      <p:sp>
        <p:nvSpPr>
          <p:cNvPr id="62" name="Shape 60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REST API</a:t>
            </a:r>
            <a:endParaRPr lang="en-US" sz="850"/>
          </a:p>
        </p:txBody>
      </p:sp>
      <p:sp>
        <p:nvSpPr>
          <p:cNvPr id="64" name="Text 62"/>
          <p:cNvSpPr/>
          <p:nvPr/>
        </p:nvSpPr>
        <p:spPr>
          <a:xfrm>
            <a:off x="5806440" y="3922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POST /evaluate → TrustSignal</a:t>
            </a:r>
            <a:endParaRPr lang="en-US" sz="900"/>
          </a:p>
        </p:txBody>
      </p:sp>
      <p:sp>
        <p:nvSpPr>
          <p:cNvPr id="65" name="Shape 63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DEMO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5806440" y="4178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Standalone demo script</a:t>
            </a:r>
            <a:endParaRPr lang="en-US" sz="900"/>
          </a:p>
        </p:txBody>
      </p:sp>
      <p:sp>
        <p:nvSpPr>
          <p:cNvPr id="68" name="Shape 66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STRETCH</a:t>
            </a:r>
            <a:endParaRPr lang="en-US" sz="850"/>
          </a:p>
        </p:txBody>
      </p:sp>
      <p:sp>
        <p:nvSpPr>
          <p:cNvPr id="70" name="Text 68"/>
          <p:cNvSpPr/>
          <p:nvPr/>
        </p:nvSpPr>
        <p:spPr>
          <a:xfrm>
            <a:off x="5806440" y="4434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MCP server wrapping /evaluate</a:t>
            </a:r>
            <a:endParaRPr lang="en-US" sz="900"/>
          </a:p>
        </p:txBody>
      </p:sp>
      <p:sp>
        <p:nvSpPr>
          <p:cNvPr id="71" name="Shape 6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ATHENA  ·  Module Specification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74520" y="91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Fact-Checker  ·  3-Week Plan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Abhashri  ·  Abhishek  ·  Naved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Taruna  ·  Soniya  ·  Deepa  ·  Babita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685800"/>
            <a:ext cx="26974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WEEK 1  Days 1–5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38404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B8A6"/>
                </a:solidFill>
              </a:rPr>
              <a:t>Days 1–2 · Corpus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8404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2062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10 factual docs across 2 domains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2062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Include 4–6 numbered claims each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2062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Mark incorrect claims in a separate truth file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8404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42062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Project scaffold + module interface skeleton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2062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Install Groq SDK + sentence-transformers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2062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Confirm REST /evaluate endpoint shape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84048" y="27980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14B8A6"/>
                </a:solidFill>
              </a:rPr>
              <a:t>Days 3–5 · Spec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8404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20624" y="31089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07238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Spec using spec-kit: define 'claim', grounding threshold (&lt; 0.4 = flag), evidence format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20624" y="332841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5 test scenarios with expected outputs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84048" y="35570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420624" y="3611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57530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Review spec. Identify edge cases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20624" y="3831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79476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Prototype claim extractor on Athena corpus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20040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0" y="685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2  Days 6–14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331012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Build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31012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334670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9300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Test module output against all 10 Athena docs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334670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9300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Log misses and false positives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334670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49300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Refine grounding threshold based on results</a:t>
            </a:r>
            <a:endParaRPr lang="en-US" sz="900"/>
          </a:p>
        </p:txBody>
      </p:sp>
      <p:sp>
        <p:nvSpPr>
          <p:cNvPr id="51" name="Text 49"/>
          <p:cNvSpPr/>
          <p:nvPr/>
        </p:nvSpPr>
        <p:spPr>
          <a:xfrm>
            <a:off x="331012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52" name="Shape 50"/>
          <p:cNvSpPr/>
          <p:nvPr/>
        </p:nvSpPr>
        <p:spPr>
          <a:xfrm>
            <a:off x="334670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9300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Implement claim extractor, grounding scorer, evidence linker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334670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49300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Wire POST /evaluate → TrustSignal</a:t>
            </a:r>
            <a:endParaRPr lang="en-US" sz="900"/>
          </a:p>
        </p:txBody>
      </p:sp>
      <p:sp>
        <p:nvSpPr>
          <p:cNvPr id="56" name="Shape 54"/>
          <p:cNvSpPr/>
          <p:nvPr/>
        </p:nvSpPr>
        <p:spPr>
          <a:xfrm>
            <a:off x="334670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9300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Unit test against truth file</a:t>
            </a:r>
            <a:endParaRPr lang="en-US" sz="900"/>
          </a:p>
        </p:txBody>
      </p:sp>
      <p:sp>
        <p:nvSpPr>
          <p:cNvPr id="58" name="Shape 56"/>
          <p:cNvSpPr/>
          <p:nvPr/>
        </p:nvSpPr>
        <p:spPr>
          <a:xfrm>
            <a:off x="612648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126480" y="6858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3  Days 15–21</a:t>
            </a:r>
            <a:endParaRPr lang="en-US" sz="850"/>
          </a:p>
        </p:txBody>
      </p:sp>
      <p:sp>
        <p:nvSpPr>
          <p:cNvPr id="62" name="Text 60"/>
          <p:cNvSpPr/>
          <p:nvPr/>
        </p:nvSpPr>
        <p:spPr>
          <a:xfrm>
            <a:off x="623620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Integrate + Polish</a:t>
            </a:r>
            <a:endParaRPr lang="en-US" sz="1000"/>
          </a:p>
        </p:txBody>
      </p:sp>
      <p:sp>
        <p:nvSpPr>
          <p:cNvPr id="63" name="Text 61"/>
          <p:cNvSpPr/>
          <p:nvPr/>
        </p:nvSpPr>
        <p:spPr>
          <a:xfrm>
            <a:off x="623620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627278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41908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Cross-corpus test: Themis + Prometheus docs</a:t>
            </a:r>
            <a:endParaRPr lang="en-US" sz="900"/>
          </a:p>
        </p:txBody>
      </p:sp>
      <p:sp>
        <p:nvSpPr>
          <p:cNvPr id="66" name="Shape 64"/>
          <p:cNvSpPr/>
          <p:nvPr/>
        </p:nvSpPr>
        <p:spPr>
          <a:xfrm>
            <a:off x="627278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641908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standalone demo script</a:t>
            </a:r>
            <a:endParaRPr lang="en-US" sz="900"/>
          </a:p>
        </p:txBody>
      </p:sp>
      <p:sp>
        <p:nvSpPr>
          <p:cNvPr id="68" name="Shape 66"/>
          <p:cNvSpPr/>
          <p:nvPr/>
        </p:nvSpPr>
        <p:spPr>
          <a:xfrm>
            <a:off x="627278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1908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Draft integration test cases</a:t>
            </a:r>
            <a:endParaRPr lang="en-US" sz="900"/>
          </a:p>
        </p:txBody>
      </p:sp>
      <p:sp>
        <p:nvSpPr>
          <p:cNvPr id="70" name="Text 68"/>
          <p:cNvSpPr/>
          <p:nvPr/>
        </p:nvSpPr>
        <p:spPr>
          <a:xfrm>
            <a:off x="623620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71" name="Shape 69"/>
          <p:cNvSpPr/>
          <p:nvPr/>
        </p:nvSpPr>
        <p:spPr>
          <a:xfrm>
            <a:off x="627278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41908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Add MCP server (stretch)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627278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41908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Integration test with Trust Router</a:t>
            </a:r>
            <a:endParaRPr lang="en-US" sz="900"/>
          </a:p>
        </p:txBody>
      </p:sp>
      <p:sp>
        <p:nvSpPr>
          <p:cNvPr id="75" name="Shape 73"/>
          <p:cNvSpPr/>
          <p:nvPr/>
        </p:nvSpPr>
        <p:spPr>
          <a:xfrm>
            <a:off x="627278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41908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Fix edge cases from P test log</a:t>
            </a:r>
            <a:endParaRPr lang="en-US" sz="900"/>
          </a:p>
        </p:txBody>
      </p:sp>
      <p:sp>
        <p:nvSpPr>
          <p:cNvPr id="77" name="Shape 75"/>
          <p:cNvSpPr/>
          <p:nvPr/>
        </p:nvSpPr>
        <p:spPr>
          <a:xfrm>
            <a:off x="274320" y="4279392"/>
            <a:ext cx="43891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274320" y="4279392"/>
            <a:ext cx="54864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1148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14B8A6"/>
                </a:solidFill>
              </a:rPr>
              <a:t>STANDALONE DEMO</a:t>
            </a:r>
            <a:endParaRPr lang="en-US" sz="750"/>
          </a:p>
        </p:txBody>
      </p:sp>
      <p:sp>
        <p:nvSpPr>
          <p:cNvPr id="80" name="Text 78"/>
          <p:cNvSpPr/>
          <p:nvPr/>
        </p:nvSpPr>
        <p:spPr>
          <a:xfrm>
            <a:off x="41148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Query: 'What is BCG's policy on third-party AI tools?'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RAG answer contains 4 claims. Fact-Checker returns: score 0.72, 3 claims evidenced, 1 flagged UNSUPPORTED.</a:t>
            </a:r>
            <a:endParaRPr lang="en-US" sz="900"/>
          </a:p>
        </p:txBody>
      </p:sp>
      <p:sp>
        <p:nvSpPr>
          <p:cNvPr id="81" name="Shape 79"/>
          <p:cNvSpPr/>
          <p:nvPr/>
        </p:nvSpPr>
        <p:spPr>
          <a:xfrm>
            <a:off x="4800600" y="4279392"/>
            <a:ext cx="4041648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4800600" y="4279392"/>
            <a:ext cx="54864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93776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75569"/>
                </a:solidFill>
              </a:rPr>
              <a:t>INTEGRATION</a:t>
            </a:r>
            <a:endParaRPr lang="en-US" sz="750"/>
          </a:p>
        </p:txBody>
      </p:sp>
      <p:sp>
        <p:nvSpPr>
          <p:cNvPr id="84" name="Text 82"/>
          <p:cNvSpPr/>
          <p:nvPr/>
        </p:nvSpPr>
        <p:spPr>
          <a:xfrm>
            <a:off x="4937760" y="4480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Fires on: Factual, Synthesis. Stateless — works entirely from input sources array. No external DB needed.</a:t>
            </a:r>
            <a:endParaRPr lang="en-US" sz="900"/>
          </a:p>
        </p:txBody>
      </p:sp>
      <p:sp>
        <p:nvSpPr>
          <p:cNvPr id="85" name="Shape 8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ATHENA  ·  3-Week Plan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APOLLO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Graph Navigator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577840" y="109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475569"/>
                </a:solidFill>
              </a:rPr>
              <a:t>God of Truth &amp; Light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Sumit  ·  Sanchit  ·  Himanshu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Nakul  ·  Ankit  ·  Tushar  ·  Vicky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WHAT IT DOES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320040" y="868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Builds a live knowledge graph from source documents and traverses entity relationships to validate multi-hop reasoning. Detects when an AI answer skips or fabricates connection steps.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20040" y="1399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INPUT  (from KnowledgeTask)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347472" y="1618488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581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query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47472" y="178308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746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rag_answer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47472" y="194767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11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sources[ ]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347472" y="211226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2920" y="207568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task_type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20040" y="229514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OUTPUT  (TrustSignal core)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347472" y="251460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478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score: 0–1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7472" y="267919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6426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evidence: entity path narrative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347472" y="284378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280720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flags: MISSING_LINK / BROKEN_CHAIN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20040" y="302666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475569"/>
                </a:solidFill>
              </a:rPr>
              <a:t>details  { }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457200" y="320954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entities: [string]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57200" y="3355848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reasoning_path: [{from, relation, to}]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457200" y="35021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hop_count: int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457200" y="36484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missing_links: [string]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320040" y="3849624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TECH STACK</a:t>
            </a:r>
            <a:endParaRPr lang="en-US" sz="800"/>
          </a:p>
        </p:txBody>
      </p:sp>
      <p:sp>
        <p:nvSpPr>
          <p:cNvPr id="34" name="Shape 32"/>
          <p:cNvSpPr/>
          <p:nvPr/>
        </p:nvSpPr>
        <p:spPr>
          <a:xfrm>
            <a:off x="347472" y="406908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032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spaCy NER — entity extraction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47472" y="423367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197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NetworkX — graph construction + traversal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347472" y="439826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436168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Optional: Neo4j for persistent graph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347472" y="4562856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02920" y="452628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Groq — relationship classification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754880" y="685800"/>
            <a:ext cx="406908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754880" y="685800"/>
            <a:ext cx="40690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777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A78BFA"/>
                </a:solidFill>
              </a:rPr>
              <a:t>CORPUS CONTRIBUTION  ·  Due Day 2</a:t>
            </a:r>
            <a:endParaRPr lang="en-US" sz="800"/>
          </a:p>
        </p:txBody>
      </p:sp>
      <p:sp>
        <p:nvSpPr>
          <p:cNvPr id="46" name="Shape 44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A78BFA"/>
                </a:solidFill>
              </a:rPr>
              <a:t>12 files  ·  apollo_entity_01.txt … apollo_entity_12.txt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489204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8FAFC"/>
                </a:solidFill>
              </a:rPr>
              <a:t>Entity-rich narrative documents (~400 words each)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4919472" y="1508760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74920" y="14721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At least 25 distinct named entities across the 12 docs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919472" y="1746504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74920" y="170992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5 multi-hop chains of depth 3+ explicitly traceable through docs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4919472" y="1984248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74920" y="19476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3 'hub documents' referenced by many other entities</a:t>
            </a:r>
            <a:endParaRPr lang="en-US" sz="850"/>
          </a:p>
        </p:txBody>
      </p:sp>
      <p:sp>
        <p:nvSpPr>
          <p:cNvPr id="55" name="Shape 53"/>
          <p:cNvSpPr/>
          <p:nvPr/>
        </p:nvSpPr>
        <p:spPr>
          <a:xfrm>
            <a:off x="4919472" y="2221992"/>
            <a:ext cx="82296" cy="822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074920" y="21854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Maintain a separate entity-relationship map as ground truth table</a:t>
            </a:r>
            <a:endParaRPr lang="en-US" sz="850"/>
          </a:p>
        </p:txBody>
      </p:sp>
      <p:sp>
        <p:nvSpPr>
          <p:cNvPr id="57" name="Shape 55"/>
          <p:cNvSpPr/>
          <p:nvPr/>
        </p:nvSpPr>
        <p:spPr>
          <a:xfrm>
            <a:off x="4754880" y="2578608"/>
            <a:ext cx="4069080" cy="960120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9204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CORPUS CONSUMED FROM OTHERS</a:t>
            </a:r>
            <a:endParaRPr lang="en-US" sz="800"/>
          </a:p>
        </p:txBody>
      </p:sp>
      <p:sp>
        <p:nvSpPr>
          <p:cNvPr id="59" name="Shape 57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Hermes</a:t>
            </a:r>
            <a:endParaRPr lang="en-US" sz="850"/>
          </a:p>
        </p:txBody>
      </p:sp>
      <p:sp>
        <p:nvSpPr>
          <p:cNvPr id="61" name="Text 59"/>
          <p:cNvSpPr/>
          <p:nvPr/>
        </p:nvSpPr>
        <p:spPr>
          <a:xfrm>
            <a:off x="5715000" y="2871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Author entities extend the graph with expertise nodes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64" name="Text 62"/>
          <p:cNvSpPr/>
          <p:nvPr/>
        </p:nvSpPr>
        <p:spPr>
          <a:xfrm>
            <a:off x="5715000" y="31821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Factual claims involve entities — cross-validates claim paths</a:t>
            </a:r>
            <a:endParaRPr lang="en-US" sz="850"/>
          </a:p>
        </p:txBody>
      </p:sp>
      <p:sp>
        <p:nvSpPr>
          <p:cNvPr id="65" name="Shape 63"/>
          <p:cNvSpPr/>
          <p:nvPr/>
        </p:nvSpPr>
        <p:spPr>
          <a:xfrm>
            <a:off x="4754880" y="3611880"/>
            <a:ext cx="4069080" cy="11430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92040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DELIVERABLES EXPECTED</a:t>
            </a:r>
            <a:endParaRPr lang="en-US" sz="800"/>
          </a:p>
        </p:txBody>
      </p:sp>
      <p:sp>
        <p:nvSpPr>
          <p:cNvPr id="67" name="Shape 65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REST API</a:t>
            </a:r>
            <a:endParaRPr lang="en-US" sz="850"/>
          </a:p>
        </p:txBody>
      </p:sp>
      <p:sp>
        <p:nvSpPr>
          <p:cNvPr id="69" name="Text 67"/>
          <p:cNvSpPr/>
          <p:nvPr/>
        </p:nvSpPr>
        <p:spPr>
          <a:xfrm>
            <a:off x="5806440" y="3922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POST /evaluate → TrustSignal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DEMO</a:t>
            </a:r>
            <a:endParaRPr lang="en-US" sz="850"/>
          </a:p>
        </p:txBody>
      </p:sp>
      <p:sp>
        <p:nvSpPr>
          <p:cNvPr id="72" name="Text 70"/>
          <p:cNvSpPr/>
          <p:nvPr/>
        </p:nvSpPr>
        <p:spPr>
          <a:xfrm>
            <a:off x="5806440" y="4178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Standalone demo script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STRETCH</a:t>
            </a:r>
            <a:endParaRPr lang="en-US" sz="850"/>
          </a:p>
        </p:txBody>
      </p:sp>
      <p:sp>
        <p:nvSpPr>
          <p:cNvPr id="75" name="Text 73"/>
          <p:cNvSpPr/>
          <p:nvPr/>
        </p:nvSpPr>
        <p:spPr>
          <a:xfrm>
            <a:off x="5806440" y="4434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MCP server wrapping /evaluate</a:t>
            </a:r>
            <a:endParaRPr lang="en-US" sz="900"/>
          </a:p>
        </p:txBody>
      </p:sp>
      <p:sp>
        <p:nvSpPr>
          <p:cNvPr id="76" name="Shape 7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APOLLO  ·  Module Specification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APOLLO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74520" y="91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Graph Navigator  ·  3-Week Plan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Sumit  ·  Sanchit  ·  Himanshu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Nakul  ·  Ankit  ·  Tushar  ·  Vicky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685800"/>
            <a:ext cx="269748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WEEK 1  Days 1–5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38404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78BFA"/>
                </a:solidFill>
              </a:rPr>
              <a:t>Days 1–2 · Corpus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8404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2062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12 narrative docs with explicit named entities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2062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Build ground truth: entity-A → relation → entity-B table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2062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Mark 5 multi-hop chains (depth 3+)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8404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42062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Research LightRAG vs spaCy+NetworkX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2062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Prototype NER pipeline on Apollo corpus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2062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Confirm graph library choice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84048" y="27980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A78BFA"/>
                </a:solidFill>
              </a:rPr>
              <a:t>Days 3–5 · Spec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8404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20624" y="31089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07238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Spec graph construction rules: what counts as a relation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20624" y="332841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Define 'missing link' threshold and scoring formula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84048" y="35570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420624" y="3611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57530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Build graph construction from Apollo docs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20624" y="3831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79476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Test entity extraction accuracy vs ground truth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20040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0" y="685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2  Days 6–14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331012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Build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31012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334670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9300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5 multi-hop test queries with expected paths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334670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9300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Validate extracted graph vs ground truth map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331012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334670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Implement graph traversal + path scoring + missing link detection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334670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9300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Wire POST /evaluate → TrustSignal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12648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6858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3  Days 15–21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623620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Integrate + Polish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623620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27278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1908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Test against Hermes corpus (entity-expertise overlap)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627278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1908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Prepare demo query with known chain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623620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627278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1908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Add MCP server (stretch)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27278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1908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Integration test with Trust Router for Exploratory + Synthesis tasks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274320" y="4279392"/>
            <a:ext cx="43891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4320" y="4279392"/>
            <a:ext cx="54864" cy="548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1148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A78BFA"/>
                </a:solidFill>
              </a:rPr>
              <a:t>STANDALONE DEMO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41148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Query: 'How does Project X connect to Client Y through Team Z?'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Graph Navigator returns: path [X→led_by→Z→serves→Y], hop_count 2, score 0.85.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4800600" y="4279392"/>
            <a:ext cx="4041648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800600" y="4279392"/>
            <a:ext cx="54864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93776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75569"/>
                </a:solidFill>
              </a:rPr>
              <a:t>INTEGRATION</a:t>
            </a:r>
            <a:endParaRPr lang="en-US" sz="750"/>
          </a:p>
        </p:txBody>
      </p:sp>
      <p:sp>
        <p:nvSpPr>
          <p:cNvPr id="76" name="Text 74"/>
          <p:cNvSpPr/>
          <p:nvPr/>
        </p:nvSpPr>
        <p:spPr>
          <a:xfrm>
            <a:off x="4937760" y="4480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Fires on: Exploratory, Synthesis. Requires own graph index built at startup from corpus. Does not share vector DB.</a:t>
            </a:r>
            <a:endParaRPr lang="en-US" sz="900"/>
          </a:p>
        </p:txBody>
      </p:sp>
      <p:sp>
        <p:nvSpPr>
          <p:cNvPr id="77" name="Shape 7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APOLLO  ·  3-Week Plan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PROMETHEUS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Inspector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577840" y="109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475569"/>
                </a:solidFill>
              </a:rPr>
              <a:t>Bringer of Fire &amp; Knowledge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F59E0B"/>
                </a:solidFill>
              </a:rPr>
              <a:t>⚙  Heena  ·  Chhavi  ·  Aakash ·  Vinay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Srividya  ·  Aparana  ·  Manik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WHAT IT DOES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320040" y="868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Evaluates whether a RAG answer faithfully represents its source documents. Detects hallucinated spans, answer drift, and unsupported generalisations. Returns a faithfulness score with pinpointed problem spans.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20040" y="1399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INPUT  (from KnowledgeTask)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347472" y="1618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581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query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47472" y="17830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746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rag_answer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47472" y="19476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11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sources[ ]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20040" y="21305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OUTPUT  (TrustSignal core)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47472" y="235000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2181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score: 0–1 (faithfulness)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47472" y="251460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478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evidence: supporting spans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7472" y="267919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6426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flags: HALLUCINATION / DRIFT / UNSUPPORTED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28620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475569"/>
                </a:solidFill>
              </a:rPr>
              <a:t>details  { }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57200" y="3044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faithfulness_score: float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457200" y="31912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hallucinated_spans: [string]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drift_score: float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57200" y="34838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test_cases_passed / total: int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320040" y="3685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TECH STACK</a:t>
            </a:r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347472" y="39044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867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cross-encoder/nli-deberta — NLI scoring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347472" y="40690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032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Groq — span extraction + labelling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47472" y="423367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197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Pure Python — fully stateless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4754880" y="685800"/>
            <a:ext cx="406908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685800"/>
            <a:ext cx="40690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892040" y="777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59E0B"/>
                </a:solidFill>
              </a:rPr>
              <a:t>CORPUS CONTRIBUTION  ·  Due Day 2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59E0B"/>
                </a:solidFill>
              </a:rPr>
              <a:t>10 files  ·  prometheus_eval_01.json … prometheus_eval_10.json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489204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8FAFC"/>
                </a:solidFill>
              </a:rPr>
              <a:t>Document + Question + AI Answer evaluation triplets (JSON)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4919472" y="150876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74920" y="14721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5 triplets where the AI answer faithfully reflects the document</a:t>
            </a:r>
            <a:endParaRPr lang="en-US" sz="850"/>
          </a:p>
        </p:txBody>
      </p:sp>
      <p:sp>
        <p:nvSpPr>
          <p:cNvPr id="47" name="Shape 45"/>
          <p:cNvSpPr/>
          <p:nvPr/>
        </p:nvSpPr>
        <p:spPr>
          <a:xfrm>
            <a:off x="4919472" y="174650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74920" y="170992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5 triplets where the AI answer introduces plausible hallucinations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919472" y="198424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74920" y="19476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Each JSON: {document_text, question, ai_answer, ground_truth_label, explanation, hallucinated_spans}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919472" y="222199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74920" y="21854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Hallucinated spans must be subtle — not obvious fabrications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4754880" y="2578608"/>
            <a:ext cx="4069080" cy="960120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89204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CORPUS CONSUMED FROM OTHERS</a:t>
            </a:r>
            <a:endParaRPr lang="en-US" sz="800"/>
          </a:p>
        </p:txBody>
      </p:sp>
      <p:sp>
        <p:nvSpPr>
          <p:cNvPr id="55" name="Shape 53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57" name="Text 55"/>
          <p:cNvSpPr/>
          <p:nvPr/>
        </p:nvSpPr>
        <p:spPr>
          <a:xfrm>
            <a:off x="5715000" y="2871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Factual docs provide ground truth for faithfulness baseline</a:t>
            </a:r>
            <a:endParaRPr lang="en-US" sz="850"/>
          </a:p>
        </p:txBody>
      </p:sp>
      <p:sp>
        <p:nvSpPr>
          <p:cNvPr id="58" name="Shape 56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2C55E"/>
                </a:solidFill>
              </a:rPr>
              <a:t>Themis</a:t>
            </a:r>
            <a:endParaRPr lang="en-US" sz="850"/>
          </a:p>
        </p:txBody>
      </p:sp>
      <p:sp>
        <p:nvSpPr>
          <p:cNvPr id="60" name="Text 58"/>
          <p:cNvSpPr/>
          <p:nvPr/>
        </p:nvSpPr>
        <p:spPr>
          <a:xfrm>
            <a:off x="5715000" y="31821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Conflicting-version docs test answer drift when sources disagree</a:t>
            </a:r>
            <a:endParaRPr lang="en-US" sz="850"/>
          </a:p>
        </p:txBody>
      </p:sp>
      <p:sp>
        <p:nvSpPr>
          <p:cNvPr id="61" name="Shape 59"/>
          <p:cNvSpPr/>
          <p:nvPr/>
        </p:nvSpPr>
        <p:spPr>
          <a:xfrm>
            <a:off x="4754880" y="3611880"/>
            <a:ext cx="4069080" cy="11430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892040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DELIVERABLES EXPECTED</a:t>
            </a:r>
            <a:endParaRPr lang="en-US" sz="800"/>
          </a:p>
        </p:txBody>
      </p:sp>
      <p:sp>
        <p:nvSpPr>
          <p:cNvPr id="63" name="Shape 61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REST API</a:t>
            </a:r>
            <a:endParaRPr lang="en-US" sz="850"/>
          </a:p>
        </p:txBody>
      </p:sp>
      <p:sp>
        <p:nvSpPr>
          <p:cNvPr id="65" name="Text 63"/>
          <p:cNvSpPr/>
          <p:nvPr/>
        </p:nvSpPr>
        <p:spPr>
          <a:xfrm>
            <a:off x="5806440" y="3922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POST /evaluate → TrustSignal</a:t>
            </a:r>
            <a:endParaRPr lang="en-US" sz="900"/>
          </a:p>
        </p:txBody>
      </p:sp>
      <p:sp>
        <p:nvSpPr>
          <p:cNvPr id="66" name="Shape 64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DEMO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5806440" y="4178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Standalone demo script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STRETCH</a:t>
            </a:r>
            <a:endParaRPr lang="en-US" sz="850"/>
          </a:p>
        </p:txBody>
      </p:sp>
      <p:sp>
        <p:nvSpPr>
          <p:cNvPr id="71" name="Text 69"/>
          <p:cNvSpPr/>
          <p:nvPr/>
        </p:nvSpPr>
        <p:spPr>
          <a:xfrm>
            <a:off x="5806440" y="4434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MCP server wrapping /evaluate</a:t>
            </a:r>
            <a:endParaRPr lang="en-US" sz="900"/>
          </a:p>
        </p:txBody>
      </p:sp>
      <p:sp>
        <p:nvSpPr>
          <p:cNvPr id="72" name="Shape 7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PROMETHEUS  ·  Module Specification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PROMETHEUS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74520" y="91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Inspector  ·  3-Week Plan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Heena  ·  Chhavi  ·  Aakash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Srividya  ·  Aparana  ·  Manik  ·  Vinay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685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1  Days 1–5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38404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Days 1–2 · Corpus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8404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2062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10 evaluation triplets (5 faithful, 5 hallucinated)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2062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Hallucinated spans must be plausible but verifiably wrong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2062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Document exactly which spans are hallucinated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8404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42062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Research NLI models: deberta vs Groq-based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2062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Prototype span extraction on 2–3 triplets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2062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Confirm JSON schema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84048" y="27980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Days 3–5 · Spec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8404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20624" y="31089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07238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Spec faithfulness threshold (&lt; 0.5 = HALLUCINATION flag)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20624" y="332841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Define 'span' unit and drift scoring approach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84048" y="35570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420624" y="3611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57530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Build NLI scoring pipeline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20624" y="3831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79476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Test against all 10 eval triplets — measure precision/recall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20040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0" y="685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2  Days 6–14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331012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Build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31012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334670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9300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Log false positives and false negatives from B's implementation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334670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9300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Define partial-hallucination edge cases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331012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334670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Implement faithfulness scorer, span extractor, drift detector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334670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9300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Wire POST /evaluate → TrustSignal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12648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6858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3  Days 15–21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623620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Integrate + Polish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623620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27278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1908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Cross-corpus test: Athena + Themis docs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627278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1908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standalone demo with known hallucination example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623620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627278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1908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Add MCP server (stretch)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27278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1908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Integration test with Trust Router for Synthesis + Regulatory tasks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274320" y="4279392"/>
            <a:ext cx="43891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4320" y="4279392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1148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F59E0B"/>
                </a:solidFill>
              </a:rPr>
              <a:t>STANDALONE DEMO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41148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RAG answer claims 'BCG acquired company Z in 2023.' Source only mentions Z as a partner.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Inspector returns: faithfulness_score 0.41, hallucinated_spans ['acquired company Z in 2023'], flag HALLUCINATION.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4800600" y="4279392"/>
            <a:ext cx="4041648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800600" y="4279392"/>
            <a:ext cx="54864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93776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75569"/>
                </a:solidFill>
              </a:rPr>
              <a:t>INTEGRATION</a:t>
            </a:r>
            <a:endParaRPr lang="en-US" sz="750"/>
          </a:p>
        </p:txBody>
      </p:sp>
      <p:sp>
        <p:nvSpPr>
          <p:cNvPr id="76" name="Text 74"/>
          <p:cNvSpPr/>
          <p:nvPr/>
        </p:nvSpPr>
        <p:spPr>
          <a:xfrm>
            <a:off x="4937760" y="4480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Fires on: Synthesis, Regulatory. Fully stateless — no DB, no index. Works entirely from input passed by Trust Router.</a:t>
            </a:r>
            <a:endParaRPr lang="en-US" sz="900"/>
          </a:p>
        </p:txBody>
      </p:sp>
      <p:sp>
        <p:nvSpPr>
          <p:cNvPr id="77" name="Shape 7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PROMETHEUS  ·  3-Week Plan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HERMES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Scout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577840" y="109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475569"/>
                </a:solidFill>
              </a:rPr>
              <a:t>Messenger, Finder of Paths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Mahendra G  ·  Mahendra P  ·  Isha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Shailja  ·  Rajbardhan  ·  Naman  ·  Shubham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WHAT IT DOES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320040" y="868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F8FAFC"/>
                </a:solidFill>
              </a:rPr>
              <a:t>Identifies the most authoritative source documents and relevant internal experts for a query. Surfaces knowledge gaps where no document or expert covers the topic adequately.</a:t>
            </a:r>
            <a:endParaRPr lang="en-US" sz="900"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1399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INPUT  (from KnowledgeTask)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347472" y="161848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581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query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47472" y="178308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746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sources[ ]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47472" y="194767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11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task_type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20040" y="21305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OUTPUT  (TrustSignal core)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47472" y="235000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1343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score: 0–1 (coverage confidence)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47472" y="251460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478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evidence: top source excerpts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7472" y="267919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6426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flags: COVERAGE_GAP / NO_EXPERT_FOUND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28620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475569"/>
                </a:solidFill>
              </a:rPr>
              <a:t>details  { }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57200" y="3044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top_sources: [{doc_id, authority_score, reason}]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457200" y="31912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expert_matches: [{name, expertise, confidence}]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coverage_gaps: [string]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320040" y="353872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TECH STACK</a:t>
            </a:r>
            <a:endParaRPr lang="en-US" sz="800"/>
          </a:p>
        </p:txBody>
      </p:sp>
      <p:sp>
        <p:nvSpPr>
          <p:cNvPr id="31" name="Shape 29"/>
          <p:cNvSpPr/>
          <p:nvPr/>
        </p:nvSpPr>
        <p:spPr>
          <a:xfrm>
            <a:off x="347472" y="3758184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" y="372160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BM25 / TF-IDF — expertise matching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347472" y="3922776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886200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YAML front-matter parser — metadata extraction</a:t>
            </a:r>
            <a:endParaRPr lang="en-US" sz="900"/>
          </a:p>
        </p:txBody>
      </p:sp>
      <p:sp>
        <p:nvSpPr>
          <p:cNvPr id="35" name="Shape 33"/>
          <p:cNvSpPr/>
          <p:nvPr/>
        </p:nvSpPr>
        <p:spPr>
          <a:xfrm>
            <a:off x="347472" y="408736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05079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Groq — gap analysis narrative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347472" y="425196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2920" y="421538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Simple inverted index — no vector DB required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685800"/>
            <a:ext cx="406908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685800"/>
            <a:ext cx="40690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92040" y="777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F97316"/>
                </a:solidFill>
              </a:rPr>
              <a:t>CORPUS CONTRIBUTION  ·  Due Day 2</a:t>
            </a:r>
            <a:endParaRPr lang="en-US" sz="800"/>
          </a:p>
        </p:txBody>
      </p:sp>
      <p:sp>
        <p:nvSpPr>
          <p:cNvPr id="43" name="Shape 41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F97316"/>
                </a:solidFill>
              </a:rPr>
              <a:t>15 files  ·  hermes_expert_01.txt … hermes_expert_15.txt</a:t>
            </a:r>
            <a:endParaRPr lang="en-US" sz="850"/>
          </a:p>
        </p:txBody>
      </p:sp>
      <p:sp>
        <p:nvSpPr>
          <p:cNvPr id="45" name="Text 43"/>
          <p:cNvSpPr/>
          <p:nvPr/>
        </p:nvSpPr>
        <p:spPr>
          <a:xfrm>
            <a:off x="489204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8FAFC"/>
                </a:solidFill>
              </a:rPr>
              <a:t>Author-attributed documents with YAML front-matter (~350 words + metadata)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4919472" y="1508760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074920" y="14721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3 documents per topic domain × 5 domains = 15 docs</a:t>
            </a:r>
            <a:endParaRPr lang="en-US" sz="850"/>
          </a:p>
        </p:txBody>
      </p:sp>
      <p:sp>
        <p:nvSpPr>
          <p:cNvPr id="48" name="Shape 46"/>
          <p:cNvSpPr/>
          <p:nvPr/>
        </p:nvSpPr>
        <p:spPr>
          <a:xfrm>
            <a:off x="4919472" y="1746504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074920" y="170992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YAML front-matter on each: author_name, expertise_areas[], years_experience, cited_works[]</a:t>
            </a:r>
            <a:endParaRPr lang="en-US" sz="850"/>
          </a:p>
        </p:txBody>
      </p:sp>
      <p:sp>
        <p:nvSpPr>
          <p:cNvPr id="50" name="Shape 48"/>
          <p:cNvSpPr/>
          <p:nvPr/>
        </p:nvSpPr>
        <p:spPr>
          <a:xfrm>
            <a:off x="4919472" y="1984248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74920" y="19476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4 authors must appear across multiple documents (expertise overlap)</a:t>
            </a:r>
            <a:endParaRPr lang="en-US" sz="850"/>
          </a:p>
        </p:txBody>
      </p:sp>
      <p:sp>
        <p:nvSpPr>
          <p:cNvPr id="52" name="Shape 50"/>
          <p:cNvSpPr/>
          <p:nvPr/>
        </p:nvSpPr>
        <p:spPr>
          <a:xfrm>
            <a:off x="4919472" y="2221992"/>
            <a:ext cx="82296" cy="822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074920" y="21854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3 docs intentionally have no author metadata (gap documents)</a:t>
            </a:r>
            <a:endParaRPr lang="en-US" sz="850"/>
          </a:p>
        </p:txBody>
      </p:sp>
      <p:sp>
        <p:nvSpPr>
          <p:cNvPr id="54" name="Shape 52"/>
          <p:cNvSpPr/>
          <p:nvPr/>
        </p:nvSpPr>
        <p:spPr>
          <a:xfrm>
            <a:off x="4754880" y="2578608"/>
            <a:ext cx="4069080" cy="960120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9204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CORPUS CONSUMED FROM OTHERS</a:t>
            </a:r>
            <a:endParaRPr lang="en-US" sz="800"/>
          </a:p>
        </p:txBody>
      </p:sp>
      <p:sp>
        <p:nvSpPr>
          <p:cNvPr id="56" name="Shape 54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Apollo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5715000" y="2871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Entity docs extend expert nodes — people entities match expert profiles</a:t>
            </a:r>
            <a:endParaRPr lang="en-US" sz="850"/>
          </a:p>
        </p:txBody>
      </p:sp>
      <p:sp>
        <p:nvSpPr>
          <p:cNvPr id="59" name="Shape 57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61" name="Text 59"/>
          <p:cNvSpPr/>
          <p:nvPr/>
        </p:nvSpPr>
        <p:spPr>
          <a:xfrm>
            <a:off x="5715000" y="31821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Tests which source is most authoritative on overlapping factual claims</a:t>
            </a:r>
            <a:endParaRPr lang="en-US" sz="850"/>
          </a:p>
        </p:txBody>
      </p:sp>
      <p:sp>
        <p:nvSpPr>
          <p:cNvPr id="62" name="Shape 60"/>
          <p:cNvSpPr/>
          <p:nvPr/>
        </p:nvSpPr>
        <p:spPr>
          <a:xfrm>
            <a:off x="4754880" y="3611880"/>
            <a:ext cx="4069080" cy="11430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92040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DELIVERABLES EXPECTED</a:t>
            </a:r>
            <a:endParaRPr lang="en-US" sz="800"/>
          </a:p>
        </p:txBody>
      </p:sp>
      <p:sp>
        <p:nvSpPr>
          <p:cNvPr id="64" name="Shape 62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REST API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5806440" y="3922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POST /evaluate → TrustSignal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DEMO</a:t>
            </a:r>
            <a:endParaRPr lang="en-US" sz="850"/>
          </a:p>
        </p:txBody>
      </p:sp>
      <p:sp>
        <p:nvSpPr>
          <p:cNvPr id="69" name="Text 67"/>
          <p:cNvSpPr/>
          <p:nvPr/>
        </p:nvSpPr>
        <p:spPr>
          <a:xfrm>
            <a:off x="5806440" y="4178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Standalone demo script</a:t>
            </a:r>
            <a:endParaRPr lang="en-US" sz="900"/>
          </a:p>
        </p:txBody>
      </p:sp>
      <p:sp>
        <p:nvSpPr>
          <p:cNvPr id="70" name="Shape 68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STRETCH</a:t>
            </a:r>
            <a:endParaRPr lang="en-US" sz="850"/>
          </a:p>
        </p:txBody>
      </p:sp>
      <p:sp>
        <p:nvSpPr>
          <p:cNvPr id="72" name="Text 70"/>
          <p:cNvSpPr/>
          <p:nvPr/>
        </p:nvSpPr>
        <p:spPr>
          <a:xfrm>
            <a:off x="5806440" y="4434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MCP server wrapping /evaluate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HERMES  ·  Module Specification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HERMES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74520" y="91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Scout  ·  3-Week Plan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Mahendra G  ·  Mahendra P  ·  Isha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Shailja  ·  Rajbardhan  ·  Naman  ·  Shubham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6858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1  Days 1–5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38404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Days 1–2 · Corpus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8404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2062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15 docs across 5 domains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2062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Add YAML front-matter to each (author, expertise, citations)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2062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Ensure 4 authors appear in 2+ docs, 3 docs have no author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8404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42062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Build YAML front-matter parser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2062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Set up BM25 index on expertise fields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2062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Test query-to-expert matching prototype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84048" y="27980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Days 3–5 · Spec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8404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20624" y="31089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07238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Spec authority scoring formula: expertise match vs experience vs citation count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20624" y="332841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Define coverage gap threshold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84048" y="35570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420624" y="3611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57530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Prototype expertise matching on Hermes corpus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20624" y="3831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79476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Measure hit rate vs expected expert for 3 test queries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20040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0" y="685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2  Days 6–14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331012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Build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31012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334670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9300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5 test queries: 3 with clear expert, 2 that should trigger gaps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334670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9300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Validate Scout output against expected matches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331012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334670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Implement authority scorer, expert matcher, gap detector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334670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9300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Wire POST /evaluate → TrustSignal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12648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6858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3  Days 15–21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623620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Integrate + Polish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623620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27278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1908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Cross-corpus test: Apollo entity docs (person-entity overlap)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627278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1908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standalone demo with gap scenario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623620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627278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1908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Add MCP server (stretch)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27278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1908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Integration test with Trust Router for Expert + Exploratory tasks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274320" y="4279392"/>
            <a:ext cx="43891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F9731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4320" y="4279392"/>
            <a:ext cx="54864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1148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F97316"/>
                </a:solidFill>
              </a:rPr>
              <a:t>STANDALONE DEMO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41148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Query: 'Who is the internal expert on LLM evaluation?'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Scout returns: expert [{name: Dr. A, expertise: [LLM eval, NLP], confidence: 0.87}], coverage_gaps: ['no docs on adversarial eval found'].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4800600" y="4279392"/>
            <a:ext cx="4041648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800600" y="4279392"/>
            <a:ext cx="54864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93776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75569"/>
                </a:solidFill>
              </a:rPr>
              <a:t>INTEGRATION</a:t>
            </a:r>
            <a:endParaRPr lang="en-US" sz="750"/>
          </a:p>
        </p:txBody>
      </p:sp>
      <p:sp>
        <p:nvSpPr>
          <p:cNvPr id="76" name="Text 74"/>
          <p:cNvSpPr/>
          <p:nvPr/>
        </p:nvSpPr>
        <p:spPr>
          <a:xfrm>
            <a:off x="4937760" y="4480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Fires on: Expert, Exploratory. Maintains own expertise index built from Hermes corpus. Lightweight — no heavy ML inference.</a:t>
            </a:r>
            <a:endParaRPr lang="en-US" sz="900"/>
          </a:p>
        </p:txBody>
      </p:sp>
      <p:sp>
        <p:nvSpPr>
          <p:cNvPr id="77" name="Shape 7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HERMES  ·  3-Week Plan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2C55E"/>
                </a:solidFill>
              </a:rPr>
              <a:t>THEMIS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28800" y="91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8FAFC"/>
                </a:solidFill>
              </a:rPr>
              <a:t>Provenance Officer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5577840" y="1097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>
                <a:solidFill>
                  <a:srgbClr val="475569"/>
                </a:solidFill>
              </a:rPr>
              <a:t>Goddess of Law &amp; Order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Sajal  ·  Harendra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Ankita  ·  Arpit  ·  Rohit  ·  Tushar Jain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68580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WHAT IT DOES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320040" y="86868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Traces the origin and version history of every source document, detects conflicts between sources (e.g. two docs contradict each other on the same claim), and flags regulatory or compliance risks.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20040" y="1399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INPUT  (from KnowledgeTask)</a:t>
            </a:r>
            <a:endParaRPr lang="en-US" sz="800"/>
          </a:p>
        </p:txBody>
      </p:sp>
      <p:sp>
        <p:nvSpPr>
          <p:cNvPr id="13" name="Shape 11"/>
          <p:cNvSpPr/>
          <p:nvPr/>
        </p:nvSpPr>
        <p:spPr>
          <a:xfrm>
            <a:off x="347472" y="161848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1581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query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347472" y="178308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1746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rag_answer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347472" y="194767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1911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sources[ ]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320040" y="21305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OUTPUT  (TrustSignal core)</a:t>
            </a:r>
            <a:endParaRPr lang="en-US" sz="800"/>
          </a:p>
        </p:txBody>
      </p:sp>
      <p:sp>
        <p:nvSpPr>
          <p:cNvPr id="20" name="Shape 18"/>
          <p:cNvSpPr/>
          <p:nvPr/>
        </p:nvSpPr>
        <p:spPr>
          <a:xfrm>
            <a:off x="347472" y="235000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31343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score: 0–1 (source trust composite)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347472" y="251460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47802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94A3B8"/>
                </a:solidFill>
              </a:rPr>
              <a:t>evidence: lineage chain per source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347472" y="267919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264261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flags: DATE_CONFLICT / VERSION_MISMATCH / COMPLIANCE_RISK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320040" y="286207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>
                <a:solidFill>
                  <a:srgbClr val="475569"/>
                </a:solidFill>
              </a:rPr>
              <a:t>details  { }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57200" y="3044952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source_trust_scores: [{doc_id, score, reason}]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457200" y="3191256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conflicts: [{doc_a, doc_b, conflicting_claim}]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57200" y="333756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compliance_flags: [string]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457200" y="3483864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475569"/>
                </a:solidFill>
              </a:rPr>
              <a:t>· lineage_chain: [string]</a:t>
            </a:r>
            <a:endParaRPr lang="en-US" sz="850"/>
          </a:p>
        </p:txBody>
      </p:sp>
      <p:sp>
        <p:nvSpPr>
          <p:cNvPr id="31" name="Text 29"/>
          <p:cNvSpPr/>
          <p:nvPr/>
        </p:nvSpPr>
        <p:spPr>
          <a:xfrm>
            <a:off x="320040" y="368503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TECH STACK</a:t>
            </a:r>
            <a:endParaRPr lang="en-US" sz="800"/>
          </a:p>
        </p:txBody>
      </p:sp>
      <p:sp>
        <p:nvSpPr>
          <p:cNvPr id="32" name="Shape 30"/>
          <p:cNvSpPr/>
          <p:nvPr/>
        </p:nvSpPr>
        <p:spPr>
          <a:xfrm>
            <a:off x="347472" y="390448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02920" y="3867912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YAML metadata parser — provenance extraction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347472" y="406908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2920" y="4032504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NetworkX or dict graph — version lineage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347472" y="423367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" y="4197096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Groq — conflict extraction + compliance labelling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347472" y="439826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02920" y="4361688"/>
            <a:ext cx="3794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Rule-based compliance checker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4617720" y="621792"/>
            <a:ext cx="0" cy="4178808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754880" y="685800"/>
            <a:ext cx="4069080" cy="1828800"/>
          </a:xfrm>
          <a:prstGeom prst="rect">
            <a:avLst/>
          </a:prstGeom>
          <a:solidFill>
            <a:srgbClr val="1A2540"/>
          </a:solidFill>
          <a:ln w="12700">
            <a:solidFill>
              <a:srgbClr val="22C55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754880" y="685800"/>
            <a:ext cx="40690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892040" y="7772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22C55E"/>
                </a:solidFill>
              </a:rPr>
              <a:t>CORPUS CONTRIBUTION  ·  Due Day 2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92040" y="996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2C55E"/>
                </a:solidFill>
              </a:rPr>
              <a:t>15 files  ·  themis_cluster01_v1.txt … themis_cluster05_v3.txt</a:t>
            </a:r>
            <a:endParaRPr lang="en-US" sz="850"/>
          </a:p>
        </p:txBody>
      </p:sp>
      <p:sp>
        <p:nvSpPr>
          <p:cNvPr id="46" name="Text 44"/>
          <p:cNvSpPr/>
          <p:nvPr/>
        </p:nvSpPr>
        <p:spPr>
          <a:xfrm>
            <a:off x="4892040" y="1234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F8FAFC"/>
                </a:solidFill>
              </a:rPr>
              <a:t>5 topic clusters × 3 document versions each (YAML front-matter + ~350 words)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4919472" y="1508760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74920" y="14721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v1 = original. v2 = updates some facts. v3 = contradicts v1 on at least 1 claim</a:t>
            </a:r>
            <a:endParaRPr lang="en-US" sz="850"/>
          </a:p>
        </p:txBody>
      </p:sp>
      <p:sp>
        <p:nvSpPr>
          <p:cNvPr id="49" name="Shape 47"/>
          <p:cNvSpPr/>
          <p:nvPr/>
        </p:nvSpPr>
        <p:spPr>
          <a:xfrm>
            <a:off x="4919472" y="1746504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074920" y="170992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YAML front-matter: author, date, version, source_type, regulatory_domain</a:t>
            </a:r>
            <a:endParaRPr lang="en-US" sz="850"/>
          </a:p>
        </p:txBody>
      </p:sp>
      <p:sp>
        <p:nvSpPr>
          <p:cNvPr id="51" name="Shape 49"/>
          <p:cNvSpPr/>
          <p:nvPr/>
        </p:nvSpPr>
        <p:spPr>
          <a:xfrm>
            <a:off x="4919472" y="1984248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074920" y="19476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Maintain a conflict ground truth file: cluster, doc_a, doc_b, conflicting_claim</a:t>
            </a:r>
            <a:endParaRPr lang="en-US" sz="850"/>
          </a:p>
        </p:txBody>
      </p:sp>
      <p:sp>
        <p:nvSpPr>
          <p:cNvPr id="53" name="Shape 51"/>
          <p:cNvSpPr/>
          <p:nvPr/>
        </p:nvSpPr>
        <p:spPr>
          <a:xfrm>
            <a:off x="4919472" y="2221992"/>
            <a:ext cx="82296" cy="8229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074920" y="21854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At least 2 clusters must have a regulatory_domain (e.g. GDPR, data retention)</a:t>
            </a:r>
            <a:endParaRPr lang="en-US" sz="850"/>
          </a:p>
        </p:txBody>
      </p:sp>
      <p:sp>
        <p:nvSpPr>
          <p:cNvPr id="55" name="Shape 53"/>
          <p:cNvSpPr/>
          <p:nvPr/>
        </p:nvSpPr>
        <p:spPr>
          <a:xfrm>
            <a:off x="4754880" y="2578608"/>
            <a:ext cx="4069080" cy="960120"/>
          </a:xfrm>
          <a:prstGeom prst="rect">
            <a:avLst/>
          </a:prstGeom>
          <a:solidFill>
            <a:srgbClr val="0F1729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89204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CORPUS CONSUMED FROM OTHERS</a:t>
            </a:r>
            <a:endParaRPr lang="en-US" sz="800"/>
          </a:p>
        </p:txBody>
      </p:sp>
      <p:sp>
        <p:nvSpPr>
          <p:cNvPr id="57" name="Shape 55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92040" y="28895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Athena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5715000" y="287121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Factual docs test provenance of specific claims across sources</a:t>
            </a:r>
            <a:endParaRPr lang="en-US" sz="850"/>
          </a:p>
        </p:txBody>
      </p:sp>
      <p:sp>
        <p:nvSpPr>
          <p:cNvPr id="60" name="Shape 58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892040" y="32004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Prometheus</a:t>
            </a:r>
            <a:endParaRPr lang="en-US" sz="850"/>
          </a:p>
        </p:txBody>
      </p:sp>
      <p:sp>
        <p:nvSpPr>
          <p:cNvPr id="62" name="Text 60"/>
          <p:cNvSpPr/>
          <p:nvPr/>
        </p:nvSpPr>
        <p:spPr>
          <a:xfrm>
            <a:off x="5715000" y="31821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4A3B8"/>
                </a:solidFill>
              </a:rPr>
              <a:t>Eval pairs with conflicting sources stress-test conflict detection</a:t>
            </a:r>
            <a:endParaRPr lang="en-US" sz="850"/>
          </a:p>
        </p:txBody>
      </p:sp>
      <p:sp>
        <p:nvSpPr>
          <p:cNvPr id="63" name="Shape 61"/>
          <p:cNvSpPr/>
          <p:nvPr/>
        </p:nvSpPr>
        <p:spPr>
          <a:xfrm>
            <a:off x="4754880" y="3611880"/>
            <a:ext cx="4069080" cy="11430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892040" y="370332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475569"/>
                </a:solidFill>
              </a:rPr>
              <a:t>DELIVERABLES EXPECTED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892040" y="39410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REST API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5806440" y="3922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POST /evaluate → TrustSignal</a:t>
            </a:r>
            <a:endParaRPr lang="en-US" sz="900"/>
          </a:p>
        </p:txBody>
      </p:sp>
      <p:sp>
        <p:nvSpPr>
          <p:cNvPr id="68" name="Shape 66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892040" y="41970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DEMO</a:t>
            </a:r>
            <a:endParaRPr lang="en-US" sz="850"/>
          </a:p>
        </p:txBody>
      </p:sp>
      <p:sp>
        <p:nvSpPr>
          <p:cNvPr id="70" name="Text 68"/>
          <p:cNvSpPr/>
          <p:nvPr/>
        </p:nvSpPr>
        <p:spPr>
          <a:xfrm>
            <a:off x="5806440" y="41788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Standalone demo script</a:t>
            </a:r>
            <a:endParaRPr lang="en-US" sz="900"/>
          </a:p>
        </p:txBody>
      </p:sp>
      <p:sp>
        <p:nvSpPr>
          <p:cNvPr id="71" name="Shape 69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892040" y="445312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STRETCH</a:t>
            </a:r>
            <a:endParaRPr lang="en-US" sz="850"/>
          </a:p>
        </p:txBody>
      </p:sp>
      <p:sp>
        <p:nvSpPr>
          <p:cNvPr id="73" name="Text 71"/>
          <p:cNvSpPr/>
          <p:nvPr/>
        </p:nvSpPr>
        <p:spPr>
          <a:xfrm>
            <a:off x="5806440" y="4434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MCP server wrapping /evaluate</a:t>
            </a:r>
            <a:endParaRPr lang="en-US" sz="900"/>
          </a:p>
        </p:txBody>
      </p:sp>
      <p:sp>
        <p:nvSpPr>
          <p:cNvPr id="74" name="Shape 7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THEMIS  ·  Module Specification</a:t>
            </a:r>
            <a:endParaRPr lang="en-US" sz="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9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2C55E"/>
                </a:solidFill>
              </a:rPr>
              <a:t>THEMIS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1874520" y="91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8FAFC"/>
                </a:solidFill>
              </a:rPr>
              <a:t>Provenance Officer  ·  3-Week Plan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320040" y="402336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F59E0B"/>
                </a:solidFill>
              </a:rPr>
              <a:t>⚙  Sajal  ·  Harendra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4663440" y="402336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4B8A6"/>
                </a:solidFill>
              </a:rPr>
              <a:t>◈  Ankita  ·  Arpit  ·  Rohit  ·  Tushar Jain</a:t>
            </a:r>
            <a:endParaRPr lang="en-US" sz="850"/>
          </a:p>
        </p:txBody>
      </p:sp>
      <p:sp>
        <p:nvSpPr>
          <p:cNvPr id="8" name="Shape 6"/>
          <p:cNvSpPr/>
          <p:nvPr/>
        </p:nvSpPr>
        <p:spPr>
          <a:xfrm>
            <a:off x="320040" y="621792"/>
            <a:ext cx="850392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685800"/>
            <a:ext cx="26974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22C55E"/>
                </a:solidFill>
              </a:rPr>
              <a:t>WEEK 1  Days 1–5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38404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2C55E"/>
                </a:solidFill>
              </a:rPr>
              <a:t>Days 1–2 · Corpus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38404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42062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5 clusters × 3 versions (15 docs total)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42062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Define conflict clearly in ground truth file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20624" y="1801368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66928" y="176479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Mark at least 2 clusters with regulatory domain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384048" y="202996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22" name="Shape 20"/>
          <p:cNvSpPr/>
          <p:nvPr/>
        </p:nvSpPr>
        <p:spPr>
          <a:xfrm>
            <a:off x="42062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Build YAML metadata parser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420624" y="2304288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2677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Set up versioning graph (dict or NetworkX)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20624" y="2523744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" y="2487168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Prototype conflict detection on cluster 01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84048" y="2798064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2C55E"/>
                </a:solidFill>
              </a:rPr>
              <a:t>Days 3–5 · Spec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384048" y="305409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420624" y="3108960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07238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Spec source trust scoring: date recency vs version vs source_type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420624" y="332841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66928" y="329184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Define conflict threshold and compliance flag vocabulary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384048" y="355701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420624" y="3611880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66928" y="3575304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Test conflict detector on all 5 clusters vs ground truth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420624" y="383133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79476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Measure precision of conflict extraction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320040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200400" y="685800"/>
            <a:ext cx="2697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1012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WEEK 2  Days 6–14</a:t>
            </a:r>
            <a:endParaRPr lang="en-US" sz="850"/>
          </a:p>
        </p:txBody>
      </p:sp>
      <p:sp>
        <p:nvSpPr>
          <p:cNvPr id="43" name="Text 41"/>
          <p:cNvSpPr/>
          <p:nvPr/>
        </p:nvSpPr>
        <p:spPr>
          <a:xfrm>
            <a:off x="331012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</a:rPr>
              <a:t>Build</a:t>
            </a:r>
            <a:endParaRPr lang="en-US" sz="1000"/>
          </a:p>
        </p:txBody>
      </p:sp>
      <p:sp>
        <p:nvSpPr>
          <p:cNvPr id="44" name="Text 42"/>
          <p:cNvSpPr/>
          <p:nvPr/>
        </p:nvSpPr>
        <p:spPr>
          <a:xfrm>
            <a:off x="331012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45" name="Shape 43"/>
          <p:cNvSpPr/>
          <p:nvPr/>
        </p:nvSpPr>
        <p:spPr>
          <a:xfrm>
            <a:off x="334670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9300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5 provenance test queries: 2 clean, 3 with known conflicts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334670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9300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Log expected vs actual conflict flags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331012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50" name="Shape 48"/>
          <p:cNvSpPr/>
          <p:nvPr/>
        </p:nvSpPr>
        <p:spPr>
          <a:xfrm>
            <a:off x="334670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49300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Implement trust scorer, conflict detector, compliance rule engine</a:t>
            </a:r>
            <a:endParaRPr lang="en-US" sz="900"/>
          </a:p>
        </p:txBody>
      </p:sp>
      <p:sp>
        <p:nvSpPr>
          <p:cNvPr id="52" name="Shape 50"/>
          <p:cNvSpPr/>
          <p:nvPr/>
        </p:nvSpPr>
        <p:spPr>
          <a:xfrm>
            <a:off x="334670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49300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Wire POST /evaluate → TrustSignal</a:t>
            </a:r>
            <a:endParaRPr lang="en-US" sz="900"/>
          </a:p>
        </p:txBody>
      </p:sp>
      <p:sp>
        <p:nvSpPr>
          <p:cNvPr id="54" name="Shape 52"/>
          <p:cNvSpPr/>
          <p:nvPr/>
        </p:nvSpPr>
        <p:spPr>
          <a:xfrm>
            <a:off x="6126480" y="685800"/>
            <a:ext cx="2697480" cy="3493008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126480" y="685800"/>
            <a:ext cx="26974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236208" y="777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WEEK 3  Days 15–21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6236208" y="1051560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97316"/>
                </a:solidFill>
              </a:rPr>
              <a:t>Integrate + Polish</a:t>
            </a:r>
            <a:endParaRPr lang="en-US" sz="1000"/>
          </a:p>
        </p:txBody>
      </p:sp>
      <p:sp>
        <p:nvSpPr>
          <p:cNvPr id="59" name="Text 57"/>
          <p:cNvSpPr/>
          <p:nvPr/>
        </p:nvSpPr>
        <p:spPr>
          <a:xfrm>
            <a:off x="6236208" y="13075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14B8A6"/>
                </a:solidFill>
              </a:rPr>
              <a:t>◈ P</a:t>
            </a:r>
            <a:endParaRPr lang="en-US" sz="800"/>
          </a:p>
        </p:txBody>
      </p:sp>
      <p:sp>
        <p:nvSpPr>
          <p:cNvPr id="60" name="Shape 58"/>
          <p:cNvSpPr/>
          <p:nvPr/>
        </p:nvSpPr>
        <p:spPr>
          <a:xfrm>
            <a:off x="6272784" y="1362456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419088" y="132588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Cross-corpus test: Athena + Prometheus docs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6272784" y="1581912"/>
            <a:ext cx="82296" cy="8229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419088" y="154533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Write standalone demo with version-conflict scenario</a:t>
            </a:r>
            <a:endParaRPr lang="en-US" sz="900"/>
          </a:p>
        </p:txBody>
      </p:sp>
      <p:sp>
        <p:nvSpPr>
          <p:cNvPr id="64" name="Text 62"/>
          <p:cNvSpPr/>
          <p:nvPr/>
        </p:nvSpPr>
        <p:spPr>
          <a:xfrm>
            <a:off x="6236208" y="1810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F59E0B"/>
                </a:solidFill>
              </a:rPr>
              <a:t>⚙ B</a:t>
            </a:r>
            <a:endParaRPr lang="en-US" sz="800"/>
          </a:p>
        </p:txBody>
      </p:sp>
      <p:sp>
        <p:nvSpPr>
          <p:cNvPr id="65" name="Shape 63"/>
          <p:cNvSpPr/>
          <p:nvPr/>
        </p:nvSpPr>
        <p:spPr>
          <a:xfrm>
            <a:off x="6272784" y="1865376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19088" y="1828800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Add MCP server (stretch)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6272784" y="2084832"/>
            <a:ext cx="82296" cy="822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419088" y="2048256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Integration test with Trust Router for Regulatory + Factual tasks</a:t>
            </a:r>
            <a:endParaRPr lang="en-US" sz="900"/>
          </a:p>
        </p:txBody>
      </p:sp>
      <p:sp>
        <p:nvSpPr>
          <p:cNvPr id="69" name="Shape 67"/>
          <p:cNvSpPr/>
          <p:nvPr/>
        </p:nvSpPr>
        <p:spPr>
          <a:xfrm>
            <a:off x="274320" y="4279392"/>
            <a:ext cx="4389120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22C55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274320" y="4279392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1148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22C55E"/>
                </a:solidFill>
              </a:rPr>
              <a:t>STANDALONE DEMO</a:t>
            </a:r>
            <a:endParaRPr lang="en-US" sz="750"/>
          </a:p>
        </p:txBody>
      </p:sp>
      <p:sp>
        <p:nvSpPr>
          <p:cNvPr id="72" name="Text 70"/>
          <p:cNvSpPr/>
          <p:nvPr/>
        </p:nvSpPr>
        <p:spPr>
          <a:xfrm>
            <a:off x="411480" y="4480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Query uses 3 sources from cluster 02. v1 says 'Policy X approved 2021', v3 says '2023'.</a:t>
            </a:r>
            <a:endParaRPr lang="en-US" sz="900"/>
          </a:p>
          <a:p>
            <a:pPr marL="0" indent="0">
              <a:buNone/>
            </a:pPr>
            <a:r>
              <a:rPr lang="en-US" sz="900">
                <a:solidFill>
                  <a:srgbClr val="F8FAFC"/>
                </a:solidFill>
              </a:rPr>
              <a:t>Themis returns: conflict [{doc_a: v1, doc_b: v3, claim: 'approval year'}], flag DATE_CONFLICT, v2 trust score highest at 0.9.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4800600" y="4279392"/>
            <a:ext cx="4041648" cy="548640"/>
          </a:xfrm>
          <a:prstGeom prst="rect">
            <a:avLst/>
          </a:prstGeom>
          <a:solidFill>
            <a:srgbClr val="0F1729"/>
          </a:solidFill>
          <a:ln w="12700">
            <a:solidFill>
              <a:srgbClr val="475569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4800600" y="4279392"/>
            <a:ext cx="54864" cy="5486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4937760" y="43159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>
                <a:solidFill>
                  <a:srgbClr val="475569"/>
                </a:solidFill>
              </a:rPr>
              <a:t>INTEGRATION</a:t>
            </a:r>
            <a:endParaRPr lang="en-US" sz="750"/>
          </a:p>
        </p:txBody>
      </p:sp>
      <p:sp>
        <p:nvSpPr>
          <p:cNvPr id="76" name="Text 74"/>
          <p:cNvSpPr/>
          <p:nvPr/>
        </p:nvSpPr>
        <p:spPr>
          <a:xfrm>
            <a:off x="4937760" y="448056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Fires on: Regulatory, Factual. Requires own provenance index from Themis corpus. Also reads metadata from all other corpus files for cross-team conflict detection.</a:t>
            </a:r>
            <a:endParaRPr lang="en-US" sz="900"/>
          </a:p>
        </p:txBody>
      </p:sp>
      <p:sp>
        <p:nvSpPr>
          <p:cNvPr id="77" name="Shape 7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Team THEMIS  ·  3-Week Plan</a:t>
            </a:r>
            <a:endParaRPr lang="en-US" sz="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>
                <a:solidFill>
                  <a:srgbClr val="14B8A6"/>
                </a:solidFill>
              </a:rPr>
              <a:t>THE INTEGRATED PRODUCT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Modules. One Trust Layer. Real Use.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14B8A6"/>
                </a:solidFill>
              </a:rPr>
              <a:t>DEMO SCENARIO  ·  SYNTHESIS QUERY</a:t>
            </a:r>
            <a:endParaRPr lang="en-US" sz="900"/>
          </a:p>
        </p:txBody>
      </p:sp>
      <p:sp>
        <p:nvSpPr>
          <p:cNvPr id="6" name="Shape 4"/>
          <p:cNvSpPr/>
          <p:nvPr/>
        </p:nvSpPr>
        <p:spPr>
          <a:xfrm>
            <a:off x="365760" y="1335024"/>
            <a:ext cx="8412480" cy="365760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F8FAFC"/>
                </a:solidFill>
              </a:rPr>
              <a:t>"Summarise BCG's position on generative AI adoption across the last 3 years, citing the most authoritative sources."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</a:rPr>
              <a:t>Trust Router classifies: SYNTHESIS  →  fires Fact-Checker + Inspector + Graph Navigator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65760" y="2075688"/>
            <a:ext cx="2651760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2651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148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14B8A6"/>
                </a:solidFill>
              </a:rPr>
              <a:t>ATHENA  ·  Fact-Checker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475488" y="24231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score: 0.78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475488" y="26609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3 claims supported</a:t>
            </a:r>
            <a:endParaRPr lang="en-US" sz="950"/>
          </a:p>
        </p:txBody>
      </p:sp>
      <p:sp>
        <p:nvSpPr>
          <p:cNvPr id="14" name="Text 12"/>
          <p:cNvSpPr/>
          <p:nvPr/>
        </p:nvSpPr>
        <p:spPr>
          <a:xfrm>
            <a:off x="475488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1 flag: UNSUPPORTED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200400" y="2075688"/>
            <a:ext cx="2651760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2075688"/>
            <a:ext cx="265176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2148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A78BFA"/>
                </a:solidFill>
              </a:rPr>
              <a:t>APOLLO  ·  Graph Navigator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310128" y="24231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entities: 12 found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3310128" y="26609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path: 3-hop chain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3310128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score: 0.81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035040" y="2075688"/>
            <a:ext cx="2651760" cy="123444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60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35040" y="2075688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44768" y="2148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59E0B"/>
                </a:solidFill>
              </a:rPr>
              <a:t>PROMETHEUS  ·  Inspector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6144768" y="24231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faithfulness: 0.74</a:t>
            </a:r>
            <a:endParaRPr lang="en-US" sz="950"/>
          </a:p>
        </p:txBody>
      </p:sp>
      <p:sp>
        <p:nvSpPr>
          <p:cNvPr id="25" name="Text 23"/>
          <p:cNvSpPr/>
          <p:nvPr/>
        </p:nvSpPr>
        <p:spPr>
          <a:xfrm>
            <a:off x="6144768" y="26609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1 hallucinated span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6144768" y="289864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· drift: low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4343400" y="3401568"/>
            <a:ext cx="0" cy="201168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828800" y="3611880"/>
            <a:ext cx="5486400" cy="658368"/>
          </a:xfrm>
          <a:prstGeom prst="rect">
            <a:avLst/>
          </a:prstGeom>
          <a:solidFill>
            <a:srgbClr val="1A1A0D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28800" y="3611880"/>
            <a:ext cx="54864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965960" y="36576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59E0B"/>
                </a:solidFill>
              </a:rPr>
              <a:t>TRUST CARD  →  composite_score: 0.78  ·  evidence: 4 passages  ·  flags: [UNSUPPORTED_CLAIM, HALLUCINATION]  ·  modules_fired: [Fact-Checker, Graph Nav, Inspector]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365760" y="43525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8FAFC"/>
                </a:solidFill>
              </a:rPr>
              <a:t>The consultant sees: a confident answer + a Trust Card explaining exactly why to trust it — and what to verify.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Integrated Product Demo  ·  All 5 Modules</a:t>
            </a:r>
            <a:endParaRPr lang="en-US"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80D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>
                <a:solidFill>
                  <a:srgbClr val="F59E0B"/>
                </a:solidFill>
              </a:rPr>
              <a:t>THE BIGGER PLAY</a:t>
            </a:r>
            <a:endParaRPr lang="en-US" sz="85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Beyond BCG. Owned by Nagarro.</a:t>
            </a:r>
            <a:endParaRPr lang="en-US" sz="260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14B8A6">
                <a:alpha val="5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062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1554480" cy="237744"/>
          </a:xfrm>
          <a:prstGeom prst="rect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34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14B8A6"/>
                </a:solidFill>
              </a:rPr>
              <a:t>MODULAR VALUE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411480" y="15453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Each Module Stands Alone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Every module is independently deployable. A client with only a fact-checking need doesn't need the full stack — they plug in Fact-Checker as a standalone REST service. The Trust Marketplace model means any module can be adopted without the others.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F59E0B">
                <a:alpha val="5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42062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1554480" cy="237744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59E0B"/>
                </a:solidFill>
              </a:rPr>
              <a:t>EXTENSIBLE</a:t>
            </a:r>
            <a:endParaRPr lang="en-US" sz="850"/>
          </a:p>
        </p:txBody>
      </p:sp>
      <p:sp>
        <p:nvSpPr>
          <p:cNvPr id="15" name="Text 13"/>
          <p:cNvSpPr/>
          <p:nvPr/>
        </p:nvSpPr>
        <p:spPr>
          <a:xfrm>
            <a:off x="4846320" y="15453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The Marketplace Stays Open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4846320" y="18745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The 5 championship modules are v1.0. New modules can be added by any team, any client, any future squad — as long as they implement the TrustSignal contract. Bias Auditor, Recency Check, Multilingual Verifier — all pluggable without changing the router or UI.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F97316">
                <a:alpha val="5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17520"/>
            <a:ext cx="420624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108960"/>
            <a:ext cx="1554480" cy="237744"/>
          </a:xfrm>
          <a:prstGeom prst="rect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F97316"/>
                </a:solidFill>
              </a:rPr>
              <a:t>NAGARRO ASSET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411480" y="3419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Nagarro IP — Replicable at Scale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11480" y="3749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KnowledgeOps is not BCG-specific. The architecture applies to any enterprise knowledge AI system. Financial services, legal, pharma, government — any domain where 'I trust this AI answer' needs to be provable. Nagarro GS owns this IP and can take it to any client.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4709160" y="3017520"/>
            <a:ext cx="4206240" cy="1691640"/>
          </a:xfrm>
          <a:prstGeom prst="rect">
            <a:avLst/>
          </a:prstGeom>
          <a:solidFill>
            <a:srgbClr val="1A2540"/>
          </a:solidFill>
          <a:ln w="12700">
            <a:solidFill>
              <a:srgbClr val="A78BFA">
                <a:alpha val="55000"/>
              </a:srgbClr>
            </a:solidFill>
            <a:prstDash val="solid"/>
          </a:ln>
          <a:effectLst>
            <a:outerShdw blurRad="76200" dist="25400" dir="81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20624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3108960"/>
            <a:ext cx="1554480" cy="237744"/>
          </a:xfrm>
          <a:prstGeom prst="rect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31089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A78BFA"/>
                </a:solidFill>
              </a:rPr>
              <a:t>COMMUNITY + BRAND</a:t>
            </a:r>
            <a:endParaRPr lang="en-US" sz="850"/>
          </a:p>
        </p:txBody>
      </p:sp>
      <p:sp>
        <p:nvSpPr>
          <p:cNvPr id="27" name="Text 25"/>
          <p:cNvSpPr/>
          <p:nvPr/>
        </p:nvSpPr>
        <p:spPr>
          <a:xfrm>
            <a:off x="4846320" y="3419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8FAFC"/>
                </a:solidFill>
              </a:rPr>
              <a:t>The Open Source Pathway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4846320" y="37490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</a:rPr>
              <a:t>Individual modules can be open-sourced as reference implementations. This builds Nagarro's engineering brand, attracts talent, and creates a community around the Trust Marketplace standard. The proprietary value is in deployment and customisation — not the algorithm.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274320" y="4645152"/>
            <a:ext cx="8549640" cy="201168"/>
          </a:xfrm>
          <a:prstGeom prst="rect">
            <a:avLst/>
          </a:prstGeom>
          <a:solidFill>
            <a:srgbClr val="1A1208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654296"/>
            <a:ext cx="8549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</a:rPr>
              <a:t>The championship is how we build it. The IP is what we keep. The reputation is what we earn.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50810"/>
          </a:solidFill>
          <a:ln w="12700">
            <a:solidFill>
              <a:srgbClr val="0508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475569"/>
                </a:solidFill>
              </a:rPr>
              <a:t>KnowledgeOps  ·  Beyond BCG  ·  Nagarro IP  ·  The Bigger Play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23</Slides>
  <Notes>23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KnowledgeOps — Team Specs &amp; Build Plan</dc:title>
  <dc:subject>PptxGenJS Presentation</dc:subject>
  <dc:creator>PptxGenJS</dc:creator>
  <cp:revision>4</cp:revision>
  <dcterms:created xsi:type="dcterms:W3CDTF">2026-05-21T04:01:30Z</dcterms:created>
  <dcterms:modified xsi:type="dcterms:W3CDTF">2026-05-29T05:39:14Z</dcterms:modified>
</cp:coreProperties>
</file>